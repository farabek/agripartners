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a15696367e4bc4" /><Relationship Type="http://schemas.openxmlformats.org/officeDocument/2006/relationships/extended-properties" Target="/docProps/app.xml" Id="Rc7a8168546184749" /><Relationship Type="http://schemas.openxmlformats.org/officeDocument/2006/relationships/officeDocument" Target="/ppt/presentation.xml" Id="Rf5158e2a70974a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8673c3dd294339"/>
  </p:sldMasterIdLst>
  <p:notesMasterIdLst>
    <p:notesMasterId xmlns:r="http://schemas.openxmlformats.org/officeDocument/2006/relationships" r:id="R20344f939d2347f1"/>
  </p:notesMasterIdLst>
  <p:sldIdLst>
    <p:sldId xmlns:r="http://schemas.openxmlformats.org/officeDocument/2006/relationships" id="256" r:id="Re41e256d70874df4"/>
    <p:sldId xmlns:r="http://schemas.openxmlformats.org/officeDocument/2006/relationships" id="257" r:id="R58933296ab5d45f7"/>
    <p:sldId xmlns:r="http://schemas.openxmlformats.org/officeDocument/2006/relationships" id="258" r:id="R776fee95d2bf46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cac7b88d2648c0" /><Relationship Type="http://schemas.openxmlformats.org/officeDocument/2006/relationships/slideMaster" Target="/ppt/slideMasters/slideMaster1.xml" Id="R4f8673c3dd294339" /><Relationship Type="http://schemas.openxmlformats.org/officeDocument/2006/relationships/notesMaster" Target="/ppt/notesMasters/notesMaster1.xml" Id="R20344f939d2347f1" /><Relationship Type="http://schemas.openxmlformats.org/officeDocument/2006/relationships/presProps" Target="/ppt/presProps.xml" Id="R6586c8fa56924df0" /><Relationship Type="http://schemas.openxmlformats.org/officeDocument/2006/relationships/viewProps" Target="/ppt/viewProps.xml" Id="R4e1fac314cb244ec" /><Relationship Type="http://schemas.openxmlformats.org/officeDocument/2006/relationships/tableStyles" Target="/ppt/tableStyles.xml" Id="Rfda81157eda74df1" /><Relationship Type="http://schemas.openxmlformats.org/officeDocument/2006/relationships/slide" Target="/ppt/slides/slide1.xml" Id="Re41e256d70874df4" /><Relationship Type="http://schemas.openxmlformats.org/officeDocument/2006/relationships/slide" Target="/ppt/slides/slide2.xml" Id="R58933296ab5d45f7" /><Relationship Type="http://schemas.openxmlformats.org/officeDocument/2006/relationships/slide" Target="/ppt/slides/slide3.xml" Id="R776fee95d2bf46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1f70fa49cf4f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f306cd948d4c87" /><Relationship Type="http://schemas.openxmlformats.org/officeDocument/2006/relationships/notesMaster" Target="/ppt/notesMasters/notesMaster1.xml" Id="Rd05cc94b645e4e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253645e7d94ce0" /><Relationship Type="http://schemas.openxmlformats.org/officeDocument/2006/relationships/notesMaster" Target="/ppt/notesMasters/notesMaster1.xml" Id="R7dd7e23492e743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f0a99c825d4453" /><Relationship Type="http://schemas.openxmlformats.org/officeDocument/2006/relationships/notesMaster" Target="/ppt/notesMasters/notesMaster1.xml" Id="R0f1b01b5c4be48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AgriPartners создаёт цифровую инфраструктуру для прозрачных инвестиционных процессов в сельском хозяйстве. Сегодня я покажу проблему, которую мы решаем, разработанный нами рабочий процесс и живую демонстрацию Alpha-версии. Текущий продукт находится на стадии Alpha v1.1 и использует NEAR Testnet для отдельных инфраструктурных экспериментов. Это демонстрация для инвесторов: в текущей версии нет реальных инвестиций, производственного хранения средств или производственных расчётов. Цель презентации — ясно показать направление продукта, операционную модель и следующие шаги проверки.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Сельскохозяйственная инвестиция не становится прозрачной только потому, что проект получил финансирование. Инвестору по-прежнему нужна надёжная видимость производства, отчётности, возвратов и расчётов. В существующих процессах информация о проекте часто фрагментирована, прогресс сложно отслеживать, отчётность ведётся непоследовательно, а документы распределены по разным каналам. Информационный разрыв возникает именно тогда, когда доверие инвестора особенно важно. Поэтому AgriPartners решает не только задачу доступа к капиталу, но и задачу создания структурированной и проверяемой истории проекта на всём инвестиционном цикле.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AgriPartners организует инвестиционный цикл вокруг одного управляемого процесса проекта. Инвесторы изучают утверждённую информацию и прогресс проекта через AgriPartners. Фермеры работают с AgriPartners как с оператором проекта, выполняют сельскохозяйственные работы и предоставляют отчёты и подтверждения. Операторы координируют процесс, проверяют информацию, управляют этапами жизненного цикла и подготавливают данные для расчётов. Отчёты проекта, документы, казначейство, статус расчётов и мониторинг объединяются в одной системе. Это не просто ещё один дашборд, а единый контекст проекта с подходящей видимостью для каждого участника.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84460d4cd643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14f8d8edb74c7c" /><Relationship Type="http://schemas.openxmlformats.org/officeDocument/2006/relationships/slideLayout" Target="/ppt/slideLayouts/slideLayout1.xml" Id="R500071560b2642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0071560b2642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9354d1ac2412b" /><Relationship Type="http://schemas.openxmlformats.org/officeDocument/2006/relationships/notesSlide" Target="/ppt/notesSlides/notesSlide1.xml" Id="Ra8ec532f5b2049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b8738069d4aa8" /><Relationship Type="http://schemas.openxmlformats.org/officeDocument/2006/relationships/notesSlide" Target="/ppt/notesSlides/notesSlide2.xml" Id="R1fed4dd9377c42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4890827a040e1" /><Relationship Type="http://schemas.openxmlformats.org/officeDocument/2006/relationships/notesSlide" Target="/ppt/notesSlides/notesSlide3.xml" Id="R11c4333b5b7c4e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DA3685CA-625B-4944-A76C-9807FD24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3A7E805-0C56-4520-BD11-BA4B175C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21D6166-F1E2-452D-839F-03D4A48F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ВВЕДЕНИЕ ДЛЯ ИНВЕСТОРОВ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E0014-7333-4F07-B97B-47F6ACD4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36F"/>
                </a:solidFill>
                <a:latin typeface="Aptos"/>
                <a:ea typeface="Aptos"/>
                <a:cs typeface="Aptos"/>
              </a:rPr>
              <a:t>AgriPartners  •  Инвесторская презентация v1.0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77EE6-B991-4AF5-AE22-33EB5E26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5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36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024AC-E6B9-424C-82B9-04489378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6286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699BB-8C38-49A1-B4A4-56E996C0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666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033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332E"/>
                </a:solidFill>
                <a:latin typeface="Aptos"/>
                <a:ea typeface="Aptos"/>
                <a:cs typeface="Aptos"/>
              </a:rPr>
              <a:t>Создаём прозрачную инфраструктуру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20332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0332E"/>
                </a:solidFill>
                <a:latin typeface="Aptos"/>
                <a:ea typeface="Aptos"/>
                <a:cs typeface="Aptos"/>
              </a:rPr>
              <a:t>для сельскохозяйственных инвестиций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CB30E-B855-4DDD-A087-734DBD3F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619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5736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5736F"/>
                </a:solidFill>
                <a:latin typeface="Aptos"/>
                <a:ea typeface="Aptos"/>
                <a:cs typeface="Aptos"/>
              </a:rPr>
              <a:t>Проектно-ориентированный процесс: от оценки возможности до отчётности и расчётов.</a:t>
            </a:r>
          </a:p>
        </p:txBody>
      </p:sp>
      <p:sp>
        <p:nvSpPr>
          <p:cNvPr id="9" name="status-panel">
            <a:extLst xmlns:a="http://schemas.openxmlformats.org/drawingml/2006/main">
              <a:ext uri="{FF2B5EF4-FFF2-40B4-BE49-F238E27FC236}">
                <a16:creationId xmlns:a16="http://schemas.microsoft.com/office/drawing/2014/main" id="{4DEAF14D-67FA-4B9B-A56E-E09073FF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85800"/>
            <a:ext cx="39814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6"/>
          </a:solidFill>
          <a:ln xmlns:a="http://schemas.openxmlformats.org/drawingml/2006/main" w="0">
            <a:solidFill>
              <a:srgbClr val="173F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036B7-BC89-49BA-902E-67CE8704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906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9D9C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D9C3"/>
                </a:solidFill>
                <a:latin typeface="Aptos"/>
                <a:ea typeface="Aptos"/>
                <a:cs typeface="Aptos"/>
              </a:rPr>
              <a:t>ТЕКУЩИЙ СТАТУС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7FE4F-40DE-4955-92BB-61C9A4BA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383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065"/>
          </a:solidFill>
          <a:ln xmlns:a="http://schemas.openxmlformats.org/drawingml/2006/main" w="0">
            <a:solidFill>
              <a:srgbClr val="4770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2A47D-5C5B-40A3-AC21-077DD278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Alpha v1.1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1E396-DDCC-4CCF-A920-AEB94CE6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BD1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BD1C8"/>
                </a:solidFill>
                <a:latin typeface="Aptos"/>
                <a:ea typeface="Aptos"/>
                <a:cs typeface="Aptos"/>
              </a:rPr>
              <a:t>Стадия продукта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D89DF-27DC-4C7B-85B4-EE5464858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065"/>
          </a:solidFill>
          <a:ln xmlns:a="http://schemas.openxmlformats.org/drawingml/2006/main" w="0">
            <a:solidFill>
              <a:srgbClr val="4770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57BE4-DF8D-4E50-892D-E6136ACA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NEAR Testnet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7F5A9-E931-420F-8C6E-E5D3D4D7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BD1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BD1C8"/>
                </a:solidFill>
                <a:latin typeface="Aptos"/>
                <a:ea typeface="Aptos"/>
                <a:cs typeface="Aptos"/>
              </a:rPr>
              <a:t>Тестовая инфраструктура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0B52B-D1FA-4B52-BA89-CC25B31A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065"/>
          </a:solidFill>
          <a:ln xmlns:a="http://schemas.openxmlformats.org/drawingml/2006/main" w="0">
            <a:solidFill>
              <a:srgbClr val="4770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8E9E9-B860-4BC8-B6B0-923692F5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Демонстрация для инвесторов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0B7ED-7C7F-488B-98EA-EEE9092C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290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BD1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BD1C8"/>
                </a:solidFill>
                <a:latin typeface="Aptos"/>
                <a:ea typeface="Aptos"/>
                <a:cs typeface="Aptos"/>
              </a:rPr>
              <a:t>Цель презентации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DA95B-63AB-4739-87AE-D5075C5D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065"/>
          </a:solidFill>
          <a:ln xmlns:a="http://schemas.openxmlformats.org/drawingml/2006/main" w="0">
            <a:solidFill>
              <a:srgbClr val="4770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ED534-093B-485E-AE08-47DB1E35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3143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Без реальных инвестиций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E07A8-99D8-4AB9-809C-83BF2A90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BD1C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BD1C8"/>
                </a:solidFill>
                <a:latin typeface="Aptos"/>
                <a:ea typeface="Aptos"/>
                <a:cs typeface="Aptos"/>
              </a:rPr>
              <a:t>Операционное ограничение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0CDFAA-7BA0-4ACD-B62B-6B282612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958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СЕГОДНЯ В ПРЕЗЕНТАЦИИ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825AC0-C599-4862-8D4A-3A9FC932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57EEBF-65A0-4256-8F10-9D32E48B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Проблема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DF667E-BA90-48CE-98A7-06B4DC46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0"/>
          </a:solidFill>
          <a:ln xmlns:a="http://schemas.openxmlformats.org/drawingml/2006/main" w="0">
            <a:solidFill>
              <a:srgbClr val="C8D6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486BB3-F708-4BC4-8B4B-E476B2D8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149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BF3FCC-6CCC-4146-BA02-D023C400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578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B67B41-8E26-4488-B87B-141A53C5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9120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0"/>
          </a:solidFill>
          <a:ln xmlns:a="http://schemas.openxmlformats.org/drawingml/2006/main" w="0">
            <a:solidFill>
              <a:srgbClr val="C8D6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6068DE-9625-4023-B2C1-153B5A12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3149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31CF33-9EA8-48C3-91D0-8F33EE08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25780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Живая демонстрация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4F1639-EF6E-405F-BAFD-94364A7D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791200"/>
            <a:ext cx="1962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43A"/>
          </a:solidFill>
          <a:ln xmlns:a="http://schemas.openxmlformats.org/drawingml/2006/main" w="0">
            <a:solidFill>
              <a:srgbClr val="C8D6D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618043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ED522466-E418-413D-960B-0348EA90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53362C7-93EB-4981-984E-6B1248FD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34DB993-9DC3-47ED-87BD-EE2CA5A5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ПРОБЛЕМА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347F2-BB6B-4476-9D9B-730252C6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36F"/>
                </a:solidFill>
                <a:latin typeface="Aptos"/>
                <a:ea typeface="Aptos"/>
                <a:cs typeface="Aptos"/>
              </a:rPr>
              <a:t>AgriPartners  •  Инвесторская презентация v1.0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036B8-11E7-44D5-95EE-DE058247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5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36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248082-FB10-4CFC-A7A0-EE6E6646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Сельскохозяйственным инвестициям нужна большая прозрачность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FD69FD-0F54-4989-8901-C94E6043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ИНВЕСТИЦИОННЫЙ ЦИКЛ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AE82C-C228-4CE0-8844-077157FC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D5A43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43A"/>
                </a:solidFill>
                <a:latin typeface="Aptos"/>
                <a:ea typeface="Aptos"/>
                <a:cs typeface="Aptos"/>
              </a:rPr>
              <a:t>ТИПИЧНЫЕ ПРОБЛЕМЫ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D5096-DCA3-404A-8AE0-15A34CDB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66850"/>
            <a:ext cx="95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0"/>
          </a:solidFill>
          <a:ln xmlns:a="http://schemas.openxmlformats.org/drawingml/2006/main" w="0">
            <a:solidFill>
              <a:srgbClr val="C8D6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F8A91F-A5C6-4F96-BFFE-4E5AE326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C8D6D0"/>
            </a:solidFill>
            <a:prstDash val="solid"/>
          </a:ln>
        </p:spPr>
        <p:txBody>
          <a:bodyPr xmlns:a="http://schemas.openxmlformats.org/drawingml/2006/main" lIns="171450" tIns="57150" rIns="9525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Выбор проекта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87DC4-339B-42C6-875E-C3E80BF9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61632-4A97-4785-8F47-7DB95ED5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86000"/>
            <a:ext cx="1143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575BB-60F5-46E4-BAFB-A26F1C58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9077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C8D6D0"/>
            </a:solidFill>
            <a:prstDash val="solid"/>
          </a:ln>
        </p:spPr>
        <p:txBody>
          <a:bodyPr xmlns:a="http://schemas.openxmlformats.org/drawingml/2006/main" lIns="171450" tIns="57150" rIns="9525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F36"/>
                </a:solidFill>
                <a:latin typeface="Aptos"/>
                <a:ea typeface="Aptos"/>
                <a:cs typeface="Aptos"/>
              </a:rPr>
              <a:t>Финансирование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CD867-9543-422D-A07D-9208DB24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9077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F1C76-C232-42DD-AD4D-9C8C4A34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52725"/>
            <a:ext cx="1143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6FFD0-1285-4E35-8B3C-535BA3AD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C8D6D0"/>
            </a:solidFill>
            <a:prstDash val="solid"/>
          </a:ln>
        </p:spPr>
        <p:txBody>
          <a:bodyPr xmlns:a="http://schemas.openxmlformats.org/drawingml/2006/main" lIns="171450" tIns="57150" rIns="9525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F36"/>
                </a:solidFill>
                <a:latin typeface="Aptos"/>
                <a:ea typeface="Aptos"/>
                <a:cs typeface="Aptos"/>
              </a:rPr>
              <a:t>Производство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CFDF4-3F99-4386-B412-D651444B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75920-9BE9-4FC9-97C6-DD7F9F6B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19450"/>
            <a:ext cx="1143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C2D4E-D694-4D17-8C88-629F306B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2422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C8D6D0"/>
            </a:solidFill>
            <a:prstDash val="solid"/>
          </a:ln>
        </p:spPr>
        <p:txBody>
          <a:bodyPr xmlns:a="http://schemas.openxmlformats.org/drawingml/2006/main" lIns="171450" tIns="57150" rIns="9525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F36"/>
                </a:solidFill>
                <a:latin typeface="Aptos"/>
                <a:ea typeface="Aptos"/>
                <a:cs typeface="Aptos"/>
              </a:rPr>
              <a:t>Отчётность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D0C4E-BF28-4A1B-9584-45CD3010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2422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9B163A-637E-49A4-AC0C-A7941992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86175"/>
            <a:ext cx="1143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B9BC05-9F93-4E12-B5C9-C167182F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C8D6D0"/>
            </a:solidFill>
            <a:prstDash val="solid"/>
          </a:ln>
        </p:spPr>
        <p:txBody>
          <a:bodyPr xmlns:a="http://schemas.openxmlformats.org/drawingml/2006/main" lIns="171450" tIns="57150" rIns="9525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F36"/>
                </a:solidFill>
                <a:latin typeface="Aptos"/>
                <a:ea typeface="Aptos"/>
                <a:cs typeface="Aptos"/>
              </a:rPr>
              <a:t>Возвраты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DD070-2568-41AF-813F-A33B1B9A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8732A9-FB90-4431-A6D1-33D70790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52900"/>
            <a:ext cx="1143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178C28-994C-4D9C-9BB5-56A1D16BF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3524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C8D6D0"/>
            </a:solidFill>
            <a:prstDash val="solid"/>
          </a:ln>
        </p:spPr>
        <p:txBody>
          <a:bodyPr xmlns:a="http://schemas.openxmlformats.org/drawingml/2006/main" lIns="171450" tIns="57150" rIns="9525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Расчёты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31AFA0-0A69-4C63-AAB1-17F9F2AD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57675"/>
            <a:ext cx="495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DBFEE2-E2E6-4346-8837-73869961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4050"/>
            <a:ext cx="323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5A4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A43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FFE3E4-60B6-4981-B874-59906BB9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24050"/>
            <a:ext cx="4438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57150" rIns="7620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33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0332E"/>
                </a:solidFill>
                <a:latin typeface="Aptos"/>
                <a:ea typeface="Aptos"/>
                <a:cs typeface="Aptos"/>
              </a:rPr>
              <a:t>Ограниченная видимость после финансирования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1F6964-AA24-4081-8301-02CB256E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76475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C"/>
          </a:solidFill>
          <a:ln xmlns:a="http://schemas.openxmlformats.org/drawingml/2006/main" w="0">
            <a:solidFill>
              <a:srgbClr val="D8DFD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111E22-FBB6-4A99-8217-8876857D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90775"/>
            <a:ext cx="323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5A4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A43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97043C-8029-423D-863B-45904A50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90775"/>
            <a:ext cx="4438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57150" rIns="7620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33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0332E"/>
                </a:solidFill>
                <a:latin typeface="Aptos"/>
                <a:ea typeface="Aptos"/>
                <a:cs typeface="Aptos"/>
              </a:rPr>
              <a:t>Фрагментированная информация о проекте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451F53-A288-46AE-84DA-9C0CA495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4320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C"/>
          </a:solidFill>
          <a:ln xmlns:a="http://schemas.openxmlformats.org/drawingml/2006/main" w="0">
            <a:solidFill>
              <a:srgbClr val="D8DF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5228CE-2449-4298-A3B3-9D0D911C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57500"/>
            <a:ext cx="323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5A4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A43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4BE0A9-836F-41DE-9D11-C2D966E9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4438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57150" rIns="7620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33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0332E"/>
                </a:solidFill>
                <a:latin typeface="Aptos"/>
                <a:ea typeface="Aptos"/>
                <a:cs typeface="Aptos"/>
              </a:rPr>
              <a:t>Сложно отслеживать прогресс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E462B9-4E62-4B0C-9110-04B5B030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09925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C"/>
          </a:solidFill>
          <a:ln xmlns:a="http://schemas.openxmlformats.org/drawingml/2006/main" w="0">
            <a:solidFill>
              <a:srgbClr val="D8DFD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4C5DDE-008F-43B7-B291-EEDEE49B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24225"/>
            <a:ext cx="323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5A4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A43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AE77CD-0DDA-4BE8-B8BA-374938A5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24225"/>
            <a:ext cx="4438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57150" rIns="7620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33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0332E"/>
                </a:solidFill>
                <a:latin typeface="Aptos"/>
                <a:ea typeface="Aptos"/>
                <a:cs typeface="Aptos"/>
              </a:rPr>
              <a:t>Непоследовательная отчётность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B87E0C-2207-4248-BFD1-CDF8D8DE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7665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C"/>
          </a:solidFill>
          <a:ln xmlns:a="http://schemas.openxmlformats.org/drawingml/2006/main" w="0">
            <a:solidFill>
              <a:srgbClr val="D8DFD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5FD36B-DC1A-411C-80DE-B4880D3B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90950"/>
            <a:ext cx="323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5A4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A43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A17E46-285E-4C5C-BB41-3D0803CE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90950"/>
            <a:ext cx="4438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57150" rIns="7620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33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0332E"/>
                </a:solidFill>
                <a:latin typeface="Aptos"/>
                <a:ea typeface="Aptos"/>
                <a:cs typeface="Aptos"/>
              </a:rPr>
              <a:t>Документы хранятся в разных местах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42E2C6-C2AB-4400-81ED-88984EB1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43375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C"/>
          </a:solidFill>
          <a:ln xmlns:a="http://schemas.openxmlformats.org/drawingml/2006/main" w="0">
            <a:solidFill>
              <a:srgbClr val="D8DFD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212B8C-0D79-4C39-AD95-CE7C83D6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7675"/>
            <a:ext cx="323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D5A43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5A43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56E89EC-188F-46A7-B41B-D03C2C16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57675"/>
            <a:ext cx="4438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57150" rIns="76200" bIns="57150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0332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0332E"/>
                </a:solidFill>
                <a:latin typeface="Aptos"/>
                <a:ea typeface="Aptos"/>
                <a:cs typeface="Aptos"/>
              </a:rPr>
              <a:t>Ограниченная операционная видимость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64C5CD-D1BC-4156-9419-785E2CF1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434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DC"/>
          </a:solidFill>
          <a:ln xmlns:a="http://schemas.openxmlformats.org/drawingml/2006/main" w="0">
            <a:solidFill>
              <a:srgbClr val="D8DFDC"/>
            </a:solidFill>
            <a:prstDash val="solid"/>
          </a:ln>
        </p:spPr>
      </p:sp>
      <p:sp>
        <p:nvSpPr>
          <p:cNvPr id="45" name="bottom-statement">
            <a:extLst xmlns:a="http://schemas.openxmlformats.org/drawingml/2006/main">
              <a:ext uri="{FF2B5EF4-FFF2-40B4-BE49-F238E27FC236}">
                <a16:creationId xmlns:a16="http://schemas.microsoft.com/office/drawing/2014/main" id="{6CA39D1D-477D-4FBB-A470-F8CAF07E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112776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6"/>
          </a:solidFill>
          <a:ln xmlns:a="http://schemas.openxmlformats.org/drawingml/2006/main" w="0">
            <a:solidFill>
              <a:srgbClr val="173F3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AF4A69-0122-46BA-ABBA-714D97F1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67325"/>
            <a:ext cx="1066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B8D5C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8D5C8"/>
                </a:solidFill>
                <a:latin typeface="Aptos"/>
                <a:ea typeface="Aptos"/>
                <a:cs typeface="Aptos"/>
              </a:rPr>
              <a:t>Проблема не в том, чтобы профинансировать проект.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3192C0-C3F0-40A3-9F96-742A47A2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Проблема — сохранять прозрачность на всём инвестиционном цикле.</a:t>
            </a:r>
          </a:p>
        </p:txBody>
      </p:sp>
    </p:spTree>
    <p:extLst>
      <p:ext uri="{BB962C8B-B14F-4D97-AF65-F5344CB8AC3E}">
        <p14:creationId xmlns:p14="http://schemas.microsoft.com/office/powerpoint/2010/main" val="16826413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AEC94E4F-F57F-4E33-8709-201CF8C0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39FBEE-4324-4B78-9D36-6EDDB5F8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8727C17-EDAC-4297-8844-0B9F75D6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05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434E5-1613-40CA-8919-0C04A128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5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36F"/>
                </a:solidFill>
                <a:latin typeface="Aptos"/>
                <a:ea typeface="Aptos"/>
                <a:cs typeface="Aptos"/>
              </a:rPr>
              <a:t>AgriPartners  •  Инвесторская презентация v1.0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8B521-1216-4006-B99F-822731FB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05575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5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36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C0EA1-660C-4EC3-B344-A22E6DE5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"/>
            <a:ext cx="7334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Один процесс.</a:t>
            </a:r>
          </a:p>
          <a:p xmlns:a="http://schemas.openxmlformats.org/drawingml/2006/main">
            <a:pPr algn="l">
              <a:buNone/>
              <a:defRPr sz="3300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Три участника. Полная прозрачность.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D0B6C-D0DF-4278-B926-4472B086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800100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5736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36F"/>
                </a:solidFill>
                <a:latin typeface="Aptos"/>
                <a:ea typeface="Aptos"/>
                <a:cs typeface="Aptos"/>
              </a:rPr>
              <a:t>Проектно-ориентированная модель с единым контекстом и ролевой видимостью.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3AA4D-62AC-45ED-94DD-FAA111F3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47850"/>
            <a:ext cx="384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C8D6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41347-7C06-432A-AEC8-A16100B2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2405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Инвестор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30A72-B6C5-4D71-B7FE-16A66642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5742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57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F"/>
                </a:solidFill>
                <a:latin typeface="Aptos"/>
                <a:ea typeface="Aptos"/>
                <a:cs typeface="Aptos"/>
              </a:rPr>
              <a:t>Изучает утверждённую информацию о проекте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EBABD-7EE6-4CAD-AD32-1AF59B16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76550"/>
            <a:ext cx="384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F36"/>
          </a:solidFill>
          <a:ln xmlns:a="http://schemas.openxmlformats.org/drawingml/2006/main" w="9525">
            <a:solidFill>
              <a:srgbClr val="173F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DB094-24FF-4B8C-8583-6711F78B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5275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AgriPartners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805EA-1283-4921-A88B-BD44C90C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CBE2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BE2D8"/>
                </a:solidFill>
                <a:latin typeface="Aptos"/>
                <a:ea typeface="Aptos"/>
                <a:cs typeface="Aptos"/>
              </a:rPr>
              <a:t>Оператор проекта и координатор процесса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8B8B9-1647-4246-8D32-C9F7ADCC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05250"/>
            <a:ext cx="384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C8D6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792BD-7760-44F4-BD45-F1180399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8145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Фермер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8B2AC-16ED-4351-B6E3-D5042431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14825"/>
            <a:ext cx="3429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6573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36F"/>
                </a:solidFill>
                <a:latin typeface="Aptos"/>
                <a:ea typeface="Aptos"/>
                <a:cs typeface="Aptos"/>
              </a:rPr>
              <a:t>Ведёт работы и предоставляет подтверждения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72527-57AC-4168-B1D1-9FEB5D03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24125"/>
            <a:ext cx="1143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2B41DC-62D8-450B-91BF-950E3A14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52825"/>
            <a:ext cx="1143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76C210-94C3-45AE-ABBC-2868F9A2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67000"/>
            <a:ext cx="2247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7D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E59F3-1D91-419A-A4AF-BE76BDFE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52725"/>
            <a:ext cx="1981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Оператор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352B2A-D9E8-4503-AF75-BB5327F5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86100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65736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5736F"/>
                </a:solidFill>
                <a:latin typeface="Aptos"/>
                <a:ea typeface="Aptos"/>
                <a:cs typeface="Aptos"/>
              </a:rPr>
              <a:t>Контролирует и проверяет этапы процесса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45D35-8ADE-485E-A158-B70B20D8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838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88CEB-12E3-4C3F-8CD2-B29971F3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054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C8D6D0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Отчёты проекта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426A07-FF9C-4CDE-8934-34B4DF66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054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C8D6D0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Документы проекта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F85461-58A4-4D86-8B04-72915690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054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C8D6D0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Казначейство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20554D-B3E9-4268-9746-204D0CDD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054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5"/>
          </a:solidFill>
          <a:ln xmlns:a="http://schemas.openxmlformats.org/drawingml/2006/main" w="9525">
            <a:solidFill>
              <a:srgbClr val="C8D6D0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Расчёты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A45BB4-55AD-44E0-9CA2-B39871FB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105400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E"/>
          </a:solidFill>
          <a:ln xmlns:a="http://schemas.openxmlformats.org/drawingml/2006/main" w="9525">
            <a:solidFill>
              <a:srgbClr val="C8D6D0"/>
            </a:solidFill>
            <a:prstDash val="solid"/>
          </a:ln>
        </p:spPr>
        <p:txBody>
          <a:bodyPr xmlns:a="http://schemas.openxmlformats.org/drawingml/2006/main" lIns="95250" tIns="76200" rIns="952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Мониторинг проекта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F57CDB-C4BE-49ED-BE79-66225BA7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D0"/>
          </a:solidFill>
          <a:ln xmlns:a="http://schemas.openxmlformats.org/drawingml/2006/main" w="0">
            <a:solidFill>
              <a:srgbClr val="C8D6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57C7CF-C7F2-446E-83B1-12204E80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34075"/>
            <a:ext cx="11277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3F3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F36"/>
                </a:solidFill>
                <a:latin typeface="Aptos"/>
                <a:ea typeface="Aptos"/>
                <a:cs typeface="Aptos"/>
              </a:rPr>
              <a:t>AgriPartners объединяет всех участников в одном прозрачном инвестиционном процессе.</a:t>
            </a:r>
          </a:p>
        </p:txBody>
      </p:sp>
    </p:spTree>
    <p:extLst>
      <p:ext uri="{BB962C8B-B14F-4D97-AF65-F5344CB8AC3E}">
        <p14:creationId xmlns:p14="http://schemas.microsoft.com/office/powerpoint/2010/main" val="13140029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2026-07-11T08:53:10.1590000Z</dcterms:created>
  <dcterms:modified xsi:type="dcterms:W3CDTF">2026-07-11T08:53:10.1590000Z</dcterms:modified>
</coreProperties>
</file>