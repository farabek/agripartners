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e0444016604937" /><Relationship Type="http://schemas.openxmlformats.org/officeDocument/2006/relationships/extended-properties" Target="/docProps/app.xml" Id="Ra4ea9c0fae30444e" /><Relationship Type="http://schemas.openxmlformats.org/officeDocument/2006/relationships/officeDocument" Target="/ppt/presentation.xml" Id="Re12ce669f4ea49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beb5b1517942b3"/>
  </p:sldMasterIdLst>
  <p:notesMasterIdLst>
    <p:notesMasterId xmlns:r="http://schemas.openxmlformats.org/officeDocument/2006/relationships" r:id="Rd4d847df8beb4f08"/>
  </p:notesMasterIdLst>
  <p:sldIdLst>
    <p:sldId xmlns:r="http://schemas.openxmlformats.org/officeDocument/2006/relationships" id="256" r:id="R4d98cc29a4464e90"/>
    <p:sldId xmlns:r="http://schemas.openxmlformats.org/officeDocument/2006/relationships" id="257" r:id="Rb0779223d9144223"/>
    <p:sldId xmlns:r="http://schemas.openxmlformats.org/officeDocument/2006/relationships" id="258" r:id="R907b4c5de2f8471e"/>
    <p:sldId xmlns:r="http://schemas.openxmlformats.org/officeDocument/2006/relationships" id="259" r:id="R7896ebb96f714e4d"/>
    <p:sldId xmlns:r="http://schemas.openxmlformats.org/officeDocument/2006/relationships" id="260" r:id="R5b9090df61dd45d4"/>
    <p:sldId xmlns:r="http://schemas.openxmlformats.org/officeDocument/2006/relationships" id="261" r:id="R28d0681a7ec944f9"/>
    <p:sldId xmlns:r="http://schemas.openxmlformats.org/officeDocument/2006/relationships" id="262" r:id="R4319a5d1e2fe4919"/>
    <p:sldId xmlns:r="http://schemas.openxmlformats.org/officeDocument/2006/relationships" id="263" r:id="R61282aa7b3694a7b"/>
    <p:sldId xmlns:r="http://schemas.openxmlformats.org/officeDocument/2006/relationships" id="264" r:id="R1527564f83174ad9"/>
    <p:sldId xmlns:r="http://schemas.openxmlformats.org/officeDocument/2006/relationships" id="265" r:id="Rb6984cf6567d4f8c"/>
    <p:sldId xmlns:r="http://schemas.openxmlformats.org/officeDocument/2006/relationships" id="266" r:id="R1e3ca77c8f6142d0"/>
    <p:sldId xmlns:r="http://schemas.openxmlformats.org/officeDocument/2006/relationships" id="267" r:id="Re53a1e2278c54eea"/>
    <p:sldId xmlns:r="http://schemas.openxmlformats.org/officeDocument/2006/relationships" id="268" r:id="Rea4880b8b0b74c94"/>
    <p:sldId xmlns:r="http://schemas.openxmlformats.org/officeDocument/2006/relationships" id="269" r:id="R34d46fbe68624c54"/>
    <p:sldId xmlns:r="http://schemas.openxmlformats.org/officeDocument/2006/relationships" id="270" r:id="R97658d79352c4266"/>
    <p:sldId xmlns:r="http://schemas.openxmlformats.org/officeDocument/2006/relationships" id="271" r:id="Ra0a4209a3d6d4ca1"/>
    <p:sldId xmlns:r="http://schemas.openxmlformats.org/officeDocument/2006/relationships" id="272" r:id="R2eac659dca844d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7fabc2519640c1" /><Relationship Type="http://schemas.openxmlformats.org/officeDocument/2006/relationships/slideMaster" Target="/ppt/slideMasters/slideMaster1.xml" Id="Rabbeb5b1517942b3" /><Relationship Type="http://schemas.openxmlformats.org/officeDocument/2006/relationships/notesMaster" Target="/ppt/notesMasters/notesMaster1.xml" Id="Rd4d847df8beb4f08" /><Relationship Type="http://schemas.openxmlformats.org/officeDocument/2006/relationships/presProps" Target="/ppt/presProps.xml" Id="R3d03073e667b4c7b" /><Relationship Type="http://schemas.openxmlformats.org/officeDocument/2006/relationships/viewProps" Target="/ppt/viewProps.xml" Id="R2153fab737014a31" /><Relationship Type="http://schemas.openxmlformats.org/officeDocument/2006/relationships/tableStyles" Target="/ppt/tableStyles.xml" Id="R969e0d4265b242e6" /><Relationship Type="http://schemas.openxmlformats.org/officeDocument/2006/relationships/slide" Target="/ppt/slides/slide1.xml" Id="R4d98cc29a4464e90" /><Relationship Type="http://schemas.openxmlformats.org/officeDocument/2006/relationships/slide" Target="/ppt/slides/slide2.xml" Id="Rb0779223d9144223" /><Relationship Type="http://schemas.openxmlformats.org/officeDocument/2006/relationships/slide" Target="/ppt/slides/slide3.xml" Id="R907b4c5de2f8471e" /><Relationship Type="http://schemas.openxmlformats.org/officeDocument/2006/relationships/slide" Target="/ppt/slides/slide4.xml" Id="R7896ebb96f714e4d" /><Relationship Type="http://schemas.openxmlformats.org/officeDocument/2006/relationships/slide" Target="/ppt/slides/slide5.xml" Id="R5b9090df61dd45d4" /><Relationship Type="http://schemas.openxmlformats.org/officeDocument/2006/relationships/slide" Target="/ppt/slides/slide6.xml" Id="R28d0681a7ec944f9" /><Relationship Type="http://schemas.openxmlformats.org/officeDocument/2006/relationships/slide" Target="/ppt/slides/slide7.xml" Id="R4319a5d1e2fe4919" /><Relationship Type="http://schemas.openxmlformats.org/officeDocument/2006/relationships/slide" Target="/ppt/slides/slide8.xml" Id="R61282aa7b3694a7b" /><Relationship Type="http://schemas.openxmlformats.org/officeDocument/2006/relationships/slide" Target="/ppt/slides/slide9.xml" Id="R1527564f83174ad9" /><Relationship Type="http://schemas.openxmlformats.org/officeDocument/2006/relationships/slide" Target="/ppt/slides/slide10.xml" Id="Rb6984cf6567d4f8c" /><Relationship Type="http://schemas.openxmlformats.org/officeDocument/2006/relationships/slide" Target="/ppt/slides/slide11.xml" Id="R1e3ca77c8f6142d0" /><Relationship Type="http://schemas.openxmlformats.org/officeDocument/2006/relationships/slide" Target="/ppt/slides/slide12.xml" Id="Re53a1e2278c54eea" /><Relationship Type="http://schemas.openxmlformats.org/officeDocument/2006/relationships/slide" Target="/ppt/slides/slide13.xml" Id="Rea4880b8b0b74c94" /><Relationship Type="http://schemas.openxmlformats.org/officeDocument/2006/relationships/slide" Target="/ppt/slides/slide14.xml" Id="R34d46fbe68624c54" /><Relationship Type="http://schemas.openxmlformats.org/officeDocument/2006/relationships/slide" Target="/ppt/slides/slide15.xml" Id="R97658d79352c4266" /><Relationship Type="http://schemas.openxmlformats.org/officeDocument/2006/relationships/slide" Target="/ppt/slides/slide16.xml" Id="Ra0a4209a3d6d4ca1" /><Relationship Type="http://schemas.openxmlformats.org/officeDocument/2006/relationships/slide" Target="/ppt/slides/slide17.xml" Id="R2eac659dca844d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93891fff5c43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88b8515f7546f1" /><Relationship Type="http://schemas.openxmlformats.org/officeDocument/2006/relationships/notesMaster" Target="/ppt/notesMasters/notesMaster1.xml" Id="R61eecc4f87a544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e4703cba804901" /><Relationship Type="http://schemas.openxmlformats.org/officeDocument/2006/relationships/notesMaster" Target="/ppt/notesMasters/notesMaster1.xml" Id="Rde122d76f6c643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2623230bf54f3b" /><Relationship Type="http://schemas.openxmlformats.org/officeDocument/2006/relationships/notesMaster" Target="/ppt/notesMasters/notesMaster1.xml" Id="R5be312297ab440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d9dac7760146d5" /><Relationship Type="http://schemas.openxmlformats.org/officeDocument/2006/relationships/notesMaster" Target="/ppt/notesMasters/notesMaster1.xml" Id="Rbc2c77817e8a4f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404cf0f8584632" /><Relationship Type="http://schemas.openxmlformats.org/officeDocument/2006/relationships/notesMaster" Target="/ppt/notesMasters/notesMaster1.xml" Id="R8a34465ff31543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a31c2aa0b14907" /><Relationship Type="http://schemas.openxmlformats.org/officeDocument/2006/relationships/notesMaster" Target="/ppt/notesMasters/notesMaster1.xml" Id="Rd1c42a8897cb4b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5850417d7f4015" /><Relationship Type="http://schemas.openxmlformats.org/officeDocument/2006/relationships/notesMaster" Target="/ppt/notesMasters/notesMaster1.xml" Id="R0ff89945feaf46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ca737e48cf4933" /><Relationship Type="http://schemas.openxmlformats.org/officeDocument/2006/relationships/notesMaster" Target="/ppt/notesMasters/notesMaster1.xml" Id="R27f166edd2294b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096f9c4d004854" /><Relationship Type="http://schemas.openxmlformats.org/officeDocument/2006/relationships/notesMaster" Target="/ppt/notesMasters/notesMaster1.xml" Id="R9efee4a0ae5d49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963d4f6de24af0" /><Relationship Type="http://schemas.openxmlformats.org/officeDocument/2006/relationships/notesMaster" Target="/ppt/notesMasters/notesMaster1.xml" Id="Rac44e11349fc42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6adcd615c246fb" /><Relationship Type="http://schemas.openxmlformats.org/officeDocument/2006/relationships/notesMaster" Target="/ppt/notesMasters/notesMaster1.xml" Id="Rcbbc1d8c254a42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c16ebed3204147" /><Relationship Type="http://schemas.openxmlformats.org/officeDocument/2006/relationships/notesMaster" Target="/ppt/notesMasters/notesMaster1.xml" Id="Re7f8b8b450a24d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8f1dcd217e40a8" /><Relationship Type="http://schemas.openxmlformats.org/officeDocument/2006/relationships/notesMaster" Target="/ppt/notesMasters/notesMaster1.xml" Id="R01f0cf25d70b4b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31e18e87cd493c" /><Relationship Type="http://schemas.openxmlformats.org/officeDocument/2006/relationships/notesMaster" Target="/ppt/notesMasters/notesMaster1.xml" Id="Rcc8500f3ef0047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36dedb7036499b" /><Relationship Type="http://schemas.openxmlformats.org/officeDocument/2006/relationships/notesMaster" Target="/ppt/notesMasters/notesMaster1.xml" Id="Rd66d545f765445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e889f32b8b4f2d" /><Relationship Type="http://schemas.openxmlformats.org/officeDocument/2006/relationships/notesMaster" Target="/ppt/notesMasters/notesMaster1.xml" Id="R6faed85da3cb43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c0c25995f043f9" /><Relationship Type="http://schemas.openxmlformats.org/officeDocument/2006/relationships/notesMaster" Target="/ppt/notesMasters/notesMaster1.xml" Id="Red9b9be8aec94f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0209d22cb042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8590e305764154" /><Relationship Type="http://schemas.openxmlformats.org/officeDocument/2006/relationships/slideLayout" Target="/ppt/slideLayouts/slideLayout1.xml" Id="R3fae0604593141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ae0604593141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65c40fe56440f" /><Relationship Type="http://schemas.openxmlformats.org/officeDocument/2006/relationships/image" Target="/ppt/media/image.png" Id="R651fb5b10c154b92" /><Relationship Type="http://schemas.openxmlformats.org/officeDocument/2006/relationships/notesSlide" Target="/ppt/notesSlides/notesSlide1.xml" Id="Rb93016aae6ea4d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d00ad0fd348d7" /><Relationship Type="http://schemas.openxmlformats.org/officeDocument/2006/relationships/notesSlide" Target="/ppt/notesSlides/notesSlide2.xml" Id="R766526ae770844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2864594f44d56" /><Relationship Type="http://schemas.openxmlformats.org/officeDocument/2006/relationships/notesSlide" Target="/ppt/notesSlides/notesSlide3.xml" Id="R773adf9e49e34c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de8b735974be1" /><Relationship Type="http://schemas.openxmlformats.org/officeDocument/2006/relationships/image" Target="/ppt/media/image2.png" Id="R22c52843324c4544" /><Relationship Type="http://schemas.openxmlformats.org/officeDocument/2006/relationships/notesSlide" Target="/ppt/notesSlides/notesSlide4.xml" Id="R75ecfaac2ccf40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c9f5f8af64d1d" /><Relationship Type="http://schemas.openxmlformats.org/officeDocument/2006/relationships/image" Target="/ppt/media/image3.png" Id="R921a130d0d6e42f1" /><Relationship Type="http://schemas.openxmlformats.org/officeDocument/2006/relationships/image" Target="/ppt/media/image4.png" Id="R77c154e207f542a7" /><Relationship Type="http://schemas.openxmlformats.org/officeDocument/2006/relationships/image" Target="/ppt/media/image5.png" Id="R77d0de5571644da6" /><Relationship Type="http://schemas.openxmlformats.org/officeDocument/2006/relationships/notesSlide" Target="/ppt/notesSlides/notesSlide5.xml" Id="R0525c86843f947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35b72b10941b5" /><Relationship Type="http://schemas.openxmlformats.org/officeDocument/2006/relationships/image" Target="/ppt/media/image6.png" Id="R77739d23f25d4c79" /><Relationship Type="http://schemas.openxmlformats.org/officeDocument/2006/relationships/notesSlide" Target="/ppt/notesSlides/notesSlide6.xml" Id="Rae8aa9bdd8cf49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20a4bbab145d5" /><Relationship Type="http://schemas.openxmlformats.org/officeDocument/2006/relationships/image" Target="/ppt/media/image7.png" Id="Rb05f774ebc6543d6" /><Relationship Type="http://schemas.openxmlformats.org/officeDocument/2006/relationships/image" Target="/ppt/media/image8.png" Id="R53b87d478f9f478c" /><Relationship Type="http://schemas.openxmlformats.org/officeDocument/2006/relationships/image" Target="/ppt/media/image9.png" Id="Rd14fc667cd764a52" /><Relationship Type="http://schemas.openxmlformats.org/officeDocument/2006/relationships/notesSlide" Target="/ppt/notesSlides/notesSlide7.xml" Id="R6cbfe134665d49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a6ff0a723493b" /><Relationship Type="http://schemas.openxmlformats.org/officeDocument/2006/relationships/image" Target="/ppt/media/image10.png" Id="R6b3c6ba87fe04d30" /><Relationship Type="http://schemas.openxmlformats.org/officeDocument/2006/relationships/image" Target="/ppt/media/image11.png" Id="R1d75e76bbf2f4e68" /><Relationship Type="http://schemas.openxmlformats.org/officeDocument/2006/relationships/image" Target="/ppt/media/image12.png" Id="Rc2c214d61db44272" /><Relationship Type="http://schemas.openxmlformats.org/officeDocument/2006/relationships/notesSlide" Target="/ppt/notesSlides/notesSlide8.xml" Id="R6804973771c94b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0e251268542d7" /><Relationship Type="http://schemas.openxmlformats.org/officeDocument/2006/relationships/image" Target="/ppt/media/image13.png" Id="R0d03dba659af4820" /><Relationship Type="http://schemas.openxmlformats.org/officeDocument/2006/relationships/notesSlide" Target="/ppt/notesSlides/notesSlide9.xml" Id="R59d8901ebb0c47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0306b08d84cc8" /><Relationship Type="http://schemas.openxmlformats.org/officeDocument/2006/relationships/image" Target="/ppt/media/image14.png" Id="R908d338d19554b47" /><Relationship Type="http://schemas.openxmlformats.org/officeDocument/2006/relationships/notesSlide" Target="/ppt/notesSlides/notesSlide10.xml" Id="R6227352df3a740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4512fb6d84a09" /><Relationship Type="http://schemas.openxmlformats.org/officeDocument/2006/relationships/image" Target="/ppt/media/image15.png" Id="Rd3a9b52fcdf64457" /><Relationship Type="http://schemas.openxmlformats.org/officeDocument/2006/relationships/notesSlide" Target="/ppt/notesSlides/notesSlide11.xml" Id="R052ed62ba6394c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2cde4a4b24c9f" /><Relationship Type="http://schemas.openxmlformats.org/officeDocument/2006/relationships/notesSlide" Target="/ppt/notesSlides/notesSlide12.xml" Id="R9906a12fee4440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9cda26316411e" /><Relationship Type="http://schemas.openxmlformats.org/officeDocument/2006/relationships/notesSlide" Target="/ppt/notesSlides/notesSlide13.xml" Id="R922377b2995245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f27c249f0477d" /><Relationship Type="http://schemas.openxmlformats.org/officeDocument/2006/relationships/image" Target="/ppt/media/image16.png" Id="Rdb7a52af49324acc" /><Relationship Type="http://schemas.openxmlformats.org/officeDocument/2006/relationships/notesSlide" Target="/ppt/notesSlides/notesSlide14.xml" Id="Rcf0c855d37aa4a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8c34ba617456b" /><Relationship Type="http://schemas.openxmlformats.org/officeDocument/2006/relationships/notesSlide" Target="/ppt/notesSlides/notesSlide15.xml" Id="Re59bf6e1f99a4d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c17bee41e454d" /><Relationship Type="http://schemas.openxmlformats.org/officeDocument/2006/relationships/notesSlide" Target="/ppt/notesSlides/notesSlide16.xml" Id="R50ea6406f42744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eb037ffe94675" /><Relationship Type="http://schemas.openxmlformats.org/officeDocument/2006/relationships/notesSlide" Target="/ppt/notesSlides/notesSlide17.xml" Id="R19227dec0d2547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3C464B-B9F4-47F4-BED8-46DD903A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7D0F1-7E2E-45D5-BCDB-D3D28B05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68F1B-14DD-4486-8E42-0438C120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C42C3-1083-409E-AAD5-12E2C39C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D5DB3-73E3-4659-8774-226122AD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61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AgriPartners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863B6-492F-4290-9B8C-60FEC900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33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Прозрачный инвестиционный workflow для пилотных агропроектов в животноводстве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E50EB-02E0-4FA9-893D-CB3563C3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Alpha v1 | Investor, Farmer, Admin и NEAR Testnet 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7D352-9275-4A52-9688-BB04DC9A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914400"/>
            <a:ext cx="47815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fb5b10c154b92"/>
          <a:stretch xmlns:a="http://schemas.openxmlformats.org/drawingml/2006/main"/>
        </p:blipFill>
        <p:spPr>
          <a:xfrm xmlns:a="http://schemas.openxmlformats.org/drawingml/2006/main">
            <a:off x="6800850" y="1422202"/>
            <a:ext cx="4629150" cy="260389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494C0-62C1-4821-B7C0-8C3A07EE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B2E06-7210-4113-B8FA-686B6DF9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05325"/>
            <a:ext cx="451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Investor portal overview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AD43E-9936-49BC-8ED3-D9BD3617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07264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780D4-58DD-46A5-89C9-E834FF36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A64CB-D676-4B54-8A3B-0AC42DD1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7210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$100,000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86AE5-FA33-4D51-9F81-8B629155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174879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Общий объем пилотного финансирования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B7819-B132-4EF8-98F2-891598A2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5257800"/>
            <a:ext cx="207264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05859-EEC4-40C7-8969-B944F9B2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5257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3998C-79F6-47A3-8C2A-8D0C77D8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537210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$163,650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135D7-7B8C-43DA-8BB2-63BC5592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5753100"/>
            <a:ext cx="174879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Ожидаемые возвраты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E3CB6B-FD9E-429E-A36C-A3B36F48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5257800"/>
            <a:ext cx="207264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0B3C5-AF27-4F79-9609-6649C5B8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5257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42CC3-BDEF-4B3F-A44D-B2F83741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537210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$82,000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D4C6E-5A7C-4883-AFD0-19E7C8D9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5753100"/>
            <a:ext cx="174879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Возвращено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EABF5A-910D-493F-9666-862D04A7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5257800"/>
            <a:ext cx="207264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B585B5-60A9-4756-8E9B-094311FF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5257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F9E2B2-DB92-45AC-B84A-8CCCB03B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537210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rPr>
              <a:t>64%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B4A809-985A-4808-9D33-2F45D088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5753100"/>
            <a:ext cx="174879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ROI Fidlot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8686D2-EC63-4566-9B20-4FA16A32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5257800"/>
            <a:ext cx="207264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9DB1FE-F138-469F-BBE9-03A89B03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5257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0D9136-99CA-4DC4-B606-8BA2B77E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537210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rPr>
              <a:t>63.3%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CB6C8-D3F0-489A-8BA4-6BBFF74B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5753100"/>
            <a:ext cx="174879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Прогнозный ROI Hissar</a:t>
            </a:r>
          </a:p>
        </p:txBody>
      </p:sp>
    </p:spTree>
    <p:extLst>
      <p:ext uri="{BB962C8B-B14F-4D97-AF65-F5344CB8AC3E}">
        <p14:creationId xmlns:p14="http://schemas.microsoft.com/office/powerpoint/2010/main" val="6771285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A06953-DC99-40D2-A60B-37841D18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14723-3654-4A1A-AA44-802DE3B6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E14A5-D1D1-4B27-A48C-5A811976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1413C-DCBC-4DDC-B191-0F6B8262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C4F83-061F-4406-A9A7-5FDF4A7E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C9942-0F21-48B1-84F3-0E7F64FA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Агрокапитал сложно проверять и контролировать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8C6F0-DD76-449F-AA13-53E0E250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Фермерам нужен оборотный капитал до выручки. Инвесторам нужны структурированные условия, отчетность и прозрачность возвратов.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AF564-3DEB-4611-A205-C5736273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95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9070B-AC1E-4877-A0A1-784483DF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639A1-7EA5-4C75-8D55-A9B4FC25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Разрозненные данные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06EA9-B7E3-4AE9-AA58-519C5060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971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Сделки часто держатся на офлайн-документах и ручных обновлениях.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66249-5F63-4ADA-A8D6-C416502D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3295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97285-8729-4358-822C-9A819FD3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5AF80-606D-4926-98E7-6B9DCF2D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Слабый мониторинг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2CF84-0709-4772-AA3C-B3F6E648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38450"/>
            <a:ext cx="2971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Операционный прогресс и статус циклов сложно сравнивать между проектами.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4D5D8-7D81-4180-A6DB-410FECA8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3295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7CE2B-191F-481F-9DC1-79D34FA0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0FD37-7B31-4278-9C8F-9C9A537A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4125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Дефицит доверия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98F54-D570-4934-9A90-852732DA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2971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Трансграничному капиталу нужны понятная экономика и доказательства возврата.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DBABA-B40C-42AC-B5E6-599C213A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8630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30AA5-ED34-419A-AA90-86E259D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4C418-2262-4C51-9EAA-2EE57B53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910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Фермеры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083C6-D68A-4892-90CD-4E5A5C6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14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8A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AB752E-53F2-483D-9A55-ED175E77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910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B88A24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B88A24"/>
                </a:solidFill>
                <a:latin typeface="Aptos"/>
                <a:ea typeface="Aptos"/>
                <a:cs typeface="Aptos"/>
              </a:rPr>
              <a:t>Структурированная сделка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FC018A-2411-401B-843F-5679DD4C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14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391E93-A4F5-45D0-99BF-345BC5CA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Внешний капитал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C05574-9D0F-4427-948F-74CDCF76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219903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9E7F51-35D3-45E4-8984-44E3EE4A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73D00-8F23-413F-BC8C-8A73F164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E68F8-9053-4B1E-9475-6285E836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B3DF2-92A3-41FC-9F7E-49BA14FF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53A49-5822-40DA-8516-FF428B94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B0F48-EE84-4306-A0DC-4A38946E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Доходность реального сектора в повторяемом агрорынке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C25CD-9D0B-4ABB-89E6-95AFA8E6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AgriPartners предназначен для региональных и международных инвесторов, заинтересованных в прозрачном доступе к агропроектам Центральной Азии.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ABB82-FDD3-4F47-9B0E-5B4BC184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95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A71E8-62E1-4597-8CA4-4B9EEBE7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553A4-B5C6-4F21-9D83-7C695687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Повторяемый спрос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076B7-058D-41BB-93C5-0CF11140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971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Животноводство, разведение, теплицы, птицеводство и supply chains требуют оборотного капитала.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0B269-2EB9-4CF8-A69D-AD8F4837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3295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C6D55-01BB-480E-ACF5-D78AC80F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28C5A-D0D2-4457-B590-F9681BF6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Сравнимые сделки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45F5D-8E62-4247-9958-05904ACD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38450"/>
            <a:ext cx="2971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Стандартизированные профили проектов упрощают инвестиционный анализ.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8305E-450E-4329-9D58-7333CE3F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3295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4CB87-0B85-415F-B26A-56581F07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85D63-084C-47A3-A1F7-B9B536CD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4125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Региональный мост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E6F5B-CD6F-4688-B91B-60BC26A2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2971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Платформа рассчитана на дисциплинированную проверку пилотов с трансграничным капиталом.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DF0B32-2FA3-46B0-8AA2-7C667D36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8630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9073F-91F8-454B-88E5-5757A2E3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E66977-6992-4733-BE21-1CB7FC40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910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Фермеры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A9921F-452F-4B8F-8C29-076E37C8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14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8A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6F8666-355E-40CC-9CCD-311FC022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910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B88A24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B88A24"/>
                </a:solidFill>
                <a:latin typeface="Aptos"/>
                <a:ea typeface="Aptos"/>
                <a:cs typeface="Aptos"/>
              </a:rPr>
              <a:t>Структурированная сделка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EB5D13-6A1E-46BA-9ADE-4F43FA05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14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43E21C-36F8-4E49-BA02-99B142F7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Внешний капитал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42FBA8-55F4-4664-B3D5-0AC90C01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0446633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2CA132-93A7-46D0-BB42-6BD61B9F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12259-037E-41DC-9141-2665CB6F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504B1-E1C8-4297-961C-0300DF75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76FC5-9D8E-48E5-AFAF-23A9D26F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C8405-9492-4A1A-A24B-54A1B320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377BB-EBFB-4A69-AAD8-B2F757FC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Структурированные агроинвестиционные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3FB1C-D9DF-454F-90C8-6BB75F8C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AgriPartners соединяет инвесторов и операторов через профили проектов, отчетность, tracking возвратов и blockchain-supported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9AE66-C946-4730-962A-C954D5B0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92964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564F7-CA7D-4B24-94ED-72391998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4F547-6247-4F89-95F1-F41BCF99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7391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Создание сделки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DA85E-8E86-46A3-A77F-F1DC2CD4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457450"/>
            <a:ext cx="92964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89D81-6050-403E-9129-E141B669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990" y="25908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CE52E-97F8-435D-A355-210D34B9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890" y="2857500"/>
            <a:ext cx="7391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Анализ экономики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2667E-8D49-44FD-9E3A-65CF76B4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457450"/>
            <a:ext cx="92964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C3FD2-E828-4DCB-AC10-D3A18711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830" y="25908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D6276-99AD-43EF-91A0-FDFAA3F9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57500"/>
            <a:ext cx="7391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Исполнение циклов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3C986-7C94-451E-B5E5-578C463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457450"/>
            <a:ext cx="92964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DC42E-0EB2-4841-AC7E-A268A7CF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670" y="25908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BD3D4-57AF-4DA9-AE2F-4547D718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570" y="2857500"/>
            <a:ext cx="7391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Отчетность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1D345-07F1-4D0C-A523-7D453C52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57450"/>
            <a:ext cx="92964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EBDD1-604C-495A-A45E-E48441FB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5908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DAD1F-9464-4BA7-9B1E-95BCC350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410" y="2857500"/>
            <a:ext cx="7391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Tracking возвратов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0C054-981D-4B1A-9891-1F48B582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От review к отчетности и return tracking в одном контролируемом workflow.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F4C76-DCF1-4A9D-9596-E8723042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38375"/>
            <a:ext cx="526732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52843324c4544"/>
          <a:stretch xmlns:a="http://schemas.openxmlformats.org/drawingml/2006/main"/>
        </p:blipFill>
        <p:spPr>
          <a:xfrm xmlns:a="http://schemas.openxmlformats.org/drawingml/2006/main">
            <a:off x="6366404" y="2314575"/>
            <a:ext cx="5012267" cy="28194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E9EC5C-6B72-495C-B5FE-E8348D70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114925"/>
            <a:ext cx="5114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37774D-9D2A-48DB-8FF4-E281EEAC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81600"/>
            <a:ext cx="500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Featured pilot deals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2B5B07-A34D-40EA-8333-57F5E13B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0361689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A3D48B-6334-41DA-9723-F739A6B7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8B681-6BF6-4920-AB43-5AD03DD1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86A4B-49E6-4FD8-8649-3943D5ED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519F3-5177-4C52-AD50-470E2E57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DBE32-1361-453A-9D12-70A72AAD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A44E0-B443-4F9A-96FD-05B389FD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Одна платформа, три операционных интерфейса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EF772-0F14-40C7-96F5-97C7EA94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Один жизненный цикл проекта переводится в ясность для инвестора, операционный контекст для фермера и контроль для администратора.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FA1C9-251D-4926-AA30-E10661FA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a130d0d6e42f1"/>
          <a:stretch xmlns:a="http://schemas.openxmlformats.org/drawingml/2006/main"/>
        </p:blipFill>
        <p:spPr>
          <a:xfrm xmlns:a="http://schemas.openxmlformats.org/drawingml/2006/main">
            <a:off x="762000" y="2519958"/>
            <a:ext cx="3181350" cy="178950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583BC-62DF-4A94-91B7-D1092680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318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C6D0C-8441-41F6-9B38-BF2EA446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Investor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8DFE0-E6AE-4C3E-A911-D474D866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154e207f542a7"/>
          <a:stretch xmlns:a="http://schemas.openxmlformats.org/drawingml/2006/main"/>
        </p:blipFill>
        <p:spPr>
          <a:xfrm xmlns:a="http://schemas.openxmlformats.org/drawingml/2006/main">
            <a:off x="4505325" y="2519958"/>
            <a:ext cx="3181350" cy="178950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3D961-98B8-4B2E-A339-D18BE7D3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91025"/>
            <a:ext cx="318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0312A-A6E7-4DFD-B5C5-C2BCA0F5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577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Farmer Portal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F4889-A1A6-462C-A60E-B7948984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0de5571644da6"/>
          <a:stretch xmlns:a="http://schemas.openxmlformats.org/drawingml/2006/main"/>
        </p:blipFill>
        <p:spPr>
          <a:xfrm xmlns:a="http://schemas.openxmlformats.org/drawingml/2006/main">
            <a:off x="8248650" y="2519958"/>
            <a:ext cx="3181350" cy="1789509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5FFB5-B0BD-42FB-8151-87D486A3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91025"/>
            <a:ext cx="318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A849B-2664-4D28-9DCE-03314E31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A6C14-4E4D-4010-A8B6-1ED6B25A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Метрики портфеля, pilot deals, ROI, ожидаемые возвраты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A73D9-96CB-450E-993C-83F890EF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768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Финансирование, прогресс циклов, активные и завершенные сделки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63AFA-6151-49A3-9836-140BBCF3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Мониторинг сделок, отчетность, repayment status, event history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E990E-9698-468A-8F46-6BB4C1E0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5990056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2B24F4-07A5-47D2-BD53-94D3A03F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8B953-3FDF-4E1A-B3A9-5E106AA2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9D815-1F3E-43E5-BA2C-A402B685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41B72-ABAE-4D5C-BD11-A83307E6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BEE77-C262-48DC-B61B-994DFF04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0BDFC-B05B-4875-8694-C39F9BB0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Investor Dashboard и видимость возвратов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AC5E9-AF4A-469A-B132-39015CEA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Инвестор видит финансирование, ожидаемые возвраты, возвращенный капитал, outstanding amounts, активные сделки, завершенные сделки и ROI.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08CD7-F6D0-4020-BB1B-1E2F48CF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143250" cy="71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4C8C7-C10B-4A77-BF40-A7CA7FB8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7625" cy="71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B6184-3132-4D35-8682-087DF190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819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$100,000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86C9C-793F-47F1-B5AB-64BBAF44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Общий объем пилотного финансирования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4189B-F89C-4BCC-B1FB-A042B532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7850"/>
            <a:ext cx="3143250" cy="71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54652-C6DD-42E9-9730-A084D6D6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7850"/>
            <a:ext cx="47625" cy="71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DC494-1B90-48A8-9D9D-C8DAD44F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2150"/>
            <a:ext cx="2819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rPr>
              <a:t>$163,650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FF5DC-D257-4419-91A0-FACDF6C3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600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Ожидаемые возвраты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EE885-D942-4B64-9DE4-5B80FCC9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0650"/>
            <a:ext cx="3143250" cy="71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1E380-C1EE-4EB8-9D5B-2F2595C6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0650"/>
            <a:ext cx="47625" cy="71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F8325-D04C-4209-9F58-DA22BCB9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44950"/>
            <a:ext cx="2819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$82,000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3D40E-365C-40BE-9941-ED15258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880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Возвращено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52F1A-18DB-4980-9C7D-7C75FFC2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C8B30-CCDA-441F-94FE-9BE3CD03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Завершенные проекты показывают ROI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FE8FE-9A40-428C-9862-931B3940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587C9A-633B-4F12-9C0B-DD480158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721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Активные проекты показывают projected ROI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1C6ECC-5630-45F5-AD53-C854BE64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521E53-6734-485B-870A-B4222404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674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Портфельные метрики видны до отдельных сделок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6466D3-59BE-4DD1-97EE-1B210737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47900"/>
            <a:ext cx="704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39d23f25d4c79"/>
          <a:stretch xmlns:a="http://schemas.openxmlformats.org/drawingml/2006/main"/>
        </p:blipFill>
        <p:spPr>
          <a:xfrm xmlns:a="http://schemas.openxmlformats.org/drawingml/2006/main">
            <a:off x="5746750" y="2324100"/>
            <a:ext cx="4470400" cy="2514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E93A1E-F2F5-4A9F-B85A-7FC9523A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19650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F6EC8F-767D-4F2C-95A1-709C1E48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86325"/>
            <a:ext cx="678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Investment summary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975B70-2C09-46C6-BB96-7847782F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0257888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25920B-0FCA-4908-830B-B08C3AAF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83A5A-3F60-42C5-8F77-05CE69B7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849CB-D703-44C1-A3D6-65C01505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2E9F3-0F3C-46EB-B4C9-57F96754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E22BC-5C34-4A79-ACA1-8D28447B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C8B08-094D-40C8-82DE-0CC1489C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Операции фермера и отчетность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EC0DE-CCED-4804-A75A-8F3FA234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Фермер видит подтверждение финансирования, прогресс циклов, активные и завершенные сделки, а также статус отчетности.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1AD80-CDF5-4DEB-8626-FACB066D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390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f774ebc6543d6"/>
          <a:stretch xmlns:a="http://schemas.openxmlformats.org/drawingml/2006/main"/>
        </p:blipFill>
        <p:spPr>
          <a:xfrm xmlns:a="http://schemas.openxmlformats.org/drawingml/2006/main">
            <a:off x="891117" y="2343150"/>
            <a:ext cx="2980267" cy="1676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48BD5-09D2-4EE1-803E-E6F83A03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9C871-2F9B-47FD-B061-A801C6B6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67175"/>
            <a:ext cx="3124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BBF47-0445-4F45-B1BB-CF51197A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3390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87d478f9f478c"/>
          <a:stretch xmlns:a="http://schemas.openxmlformats.org/drawingml/2006/main"/>
        </p:blipFill>
        <p:spPr>
          <a:xfrm xmlns:a="http://schemas.openxmlformats.org/drawingml/2006/main">
            <a:off x="4605867" y="2343150"/>
            <a:ext cx="2980267" cy="1676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5C292-46DF-439B-A69D-D6E2CDE2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35C0F-7F01-49BC-89C0-57A26FF3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67175"/>
            <a:ext cx="3124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A0422-3D17-4BFB-B03D-0D43D68F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3390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fc667cd764a52"/>
          <a:stretch xmlns:a="http://schemas.openxmlformats.org/drawingml/2006/main"/>
        </p:blipFill>
        <p:spPr>
          <a:xfrm xmlns:a="http://schemas.openxmlformats.org/drawingml/2006/main">
            <a:off x="8320617" y="2343150"/>
            <a:ext cx="2980267" cy="1676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752A3-BC44-4350-B8C8-2F20C4FB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47BCA-852C-4925-9B30-99C1A6F5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67175"/>
            <a:ext cx="3124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Deals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7D57A-DBB1-4FE9-BFD4-299C414C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A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12E18-1499-4041-A9F0-DE7A6ECB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Финансирование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2EFAF-309D-4DAE-99B9-56AEE847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958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8E3857-9144-49A6-926C-CD5FF139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95875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Циклы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0B9AAA-EB1E-42FB-B917-8667DDE8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A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C82647-F70E-4B15-BFA7-2CC5D187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95875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Отчет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4D1787-AF99-42EE-BB03-27BF89A7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958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B1345E-1C6B-4443-A978-A6A240CD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95875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Возвраты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68BD01-0A9F-4CCC-B26F-852BA854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5981794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97FDE7-B446-48DB-8DEE-FE92F5A7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76933-C63D-43DE-96B8-A021ACDD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3E1F6-AAFA-4488-8AD7-4852C5BF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B7736-8224-4121-8E8F-1635388B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78CB5-6C1D-4258-8DC8-F89D9043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9A1A5-9156-4F16-BF6A-E06ED2C3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Операционный контроль пилотных сделок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E63F9-FBCE-40CD-8D92-713D5CAB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Администратор отслеживает финансирование, статус сделок, отчетность фермера, возвраты и event history по пилотному портфелю.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7EAF0-9FBE-484C-924B-088269DA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3436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c6ba87fe04d30"/>
          <a:stretch xmlns:a="http://schemas.openxmlformats.org/drawingml/2006/main"/>
        </p:blipFill>
        <p:spPr>
          <a:xfrm xmlns:a="http://schemas.openxmlformats.org/drawingml/2006/main">
            <a:off x="1283758" y="2343150"/>
            <a:ext cx="5147733" cy="2895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4AC31-5857-4B90-AC28-A59C0EF3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FEC30-2EC6-4DDC-9AF9-55B1887B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607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A865B-7382-451D-BEBE-3A6C8919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66950"/>
            <a:ext cx="41148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5e76bbf2f4e68"/>
          <a:stretch xmlns:a="http://schemas.openxmlformats.org/drawingml/2006/main"/>
        </p:blipFill>
        <p:spPr>
          <a:xfrm xmlns:a="http://schemas.openxmlformats.org/drawingml/2006/main">
            <a:off x="8432800" y="2343150"/>
            <a:ext cx="2032000" cy="1143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C153C-B3A1-4237-B789-697E91B2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67100"/>
            <a:ext cx="396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464D1-0688-49EF-BEC5-69B6FC3A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384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Pilot deals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9A284-F9F4-43D6-BF22-45A67C2D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19550"/>
            <a:ext cx="41148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214d61db44272"/>
          <a:stretch xmlns:a="http://schemas.openxmlformats.org/drawingml/2006/main"/>
        </p:blipFill>
        <p:spPr>
          <a:xfrm xmlns:a="http://schemas.openxmlformats.org/drawingml/2006/main">
            <a:off x="8432800" y="4095750"/>
            <a:ext cx="2032000" cy="1143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CE1D16-3A8F-400B-A4BC-D8F25080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19700"/>
            <a:ext cx="396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2F3F2-2BD0-4ED6-BBF8-759D2CB6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86375"/>
            <a:ext cx="384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Project profile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0D669-2B6A-4AD2-908A-2C4D3908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5409025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A5D845-BF07-4B53-9E81-7EBCC0D4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12AD3-7563-4597-A030-6905AEEA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76068-11D3-4B05-8F96-00626E07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7B672-AAC2-4BFF-99D9-CB20DC1A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BC88F-DF03-41F5-AE29-AFA198DA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C3C36-E8B7-4B53-8A90-7F9C3440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Fidlot Livestock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F02EE-B7C3-4DDF-B578-65C4D99A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Завершенный пилот по откорму скота с понятной экономикой, историей циклов, отчетностью и фактическим возвратом.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DAF83-239C-4805-BB2B-B6B62340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7246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3dba659af4820"/>
          <a:stretch xmlns:a="http://schemas.openxmlformats.org/drawingml/2006/main"/>
        </p:blipFill>
        <p:spPr>
          <a:xfrm xmlns:a="http://schemas.openxmlformats.org/drawingml/2006/main">
            <a:off x="1304925" y="2324100"/>
            <a:ext cx="5486400" cy="30861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3F2BA-7FA3-4C24-AF47-FD30552F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E3906-39AE-4559-A053-FCE2119B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57825"/>
            <a:ext cx="645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Completed Fidlot deal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3E154-26B1-49A4-87C6-E9A199A0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0F15D-DEE3-4245-BA2B-B3C03186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10A48-B75A-4207-B637-C0C58DBB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$50,000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CCB2A-E6FB-43AE-BA4A-3D8371E2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Инвестиции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A2F9E-0377-4C7B-B9ED-1E7C38C8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E5780-320A-4FC7-A661-DAD21AF0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D37E8-84AB-44FE-8B8D-430839EF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rPr>
              <a:t>64%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9DEC6F-7270-4328-B8C9-2E6CE42A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9090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ROI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D905DB-3AD1-4F0E-AFB9-80DEBE0A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51C18B-DC22-4532-B748-1AD20947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BEE41-D47D-495C-8001-2387672D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7190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21.9%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ACE6B8-BB51-4DDA-BCDF-917AFF84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APR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A24476-1B13-4C40-B421-9BF4449D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2E1AA4-D11F-4BF7-AFE7-E54C5FB0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A14EDF-1C29-4786-B4F1-528E4F87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528DA5-390F-482D-BFE2-1F9FD6D0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0060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Циклы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90C101-C04B-43F5-8FAF-7DAC9F91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99BC41-ED38-4A85-ADCF-9D12E486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76DB36-664A-49F3-91C4-B9F5C335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8160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$82,000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DC50CB-756F-46BF-9F01-D77F9C9E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0545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Возвращено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844B88-319F-4A4D-B31B-88C33598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5416199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2B935C-6E97-4628-883C-C2B32951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ABAFD-878A-4546-A7D7-5D620239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1D799-CCFF-4512-8FF0-12B96F15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8E669-75F7-4EC9-827E-80BDBD4E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27C7E-E2BE-42F0-A23D-6C8A6F6F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DE220-1575-4E98-BC4B-7635C35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Hissar Sheep Breeding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A1DE0-6F5A-4C7F-9D6B-5E2392DC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Активный пилот по разведению овец, показывающий повторяемость инвестиционного lifecycle для другой агромодели.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1A556-D01F-4954-9660-DB80DA26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7246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d338d19554b47"/>
          <a:stretch xmlns:a="http://schemas.openxmlformats.org/drawingml/2006/main"/>
        </p:blipFill>
        <p:spPr>
          <a:xfrm xmlns:a="http://schemas.openxmlformats.org/drawingml/2006/main">
            <a:off x="1304925" y="2324100"/>
            <a:ext cx="5486400" cy="30861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24D59-408C-46B7-AF36-72F55C9C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61DA6-1F47-4541-B3C6-9B791600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57825"/>
            <a:ext cx="645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Active Hissar deal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2A038-003B-45A3-B597-14256CD6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D9C22-2081-4694-9B7D-AA32D3C8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DA6E9-35FC-4FEF-B150-AD111AB5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$50,000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325F0-EB76-424B-835F-4D2594AE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Инвестиции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2F12B-83F4-42F7-B0DB-A09A1891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EFD8A-7C04-4D60-B636-426A70B6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3E4866-23DB-4392-8879-E658FEC4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rPr>
              <a:t>63.3%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B646D-90FE-4F17-8AF5-3E97A7AB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9090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Прогнозный ROI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AB1ED3-7F7E-4CCE-AF67-8C482C91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29D3F1-5523-45A5-8955-7A0CCE73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BD57D-E2AB-4CE7-9236-816C44F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7190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21.1%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1E9417-BC24-435A-9E8D-2ECD902F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APR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0F8C4-228F-43AD-864F-BFB8EC65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4B19A-82A4-4499-A59A-93F11C4F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B3EDF8-F31B-4626-886C-8C55E0BA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998321-46AD-489D-A333-09DDACDA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0060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Циклы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23EF16-D398-479C-8641-AB05C078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39E0F-9736-46BB-A4FA-6DED1C59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5B288B-82AE-4735-8B0D-F2C8FC5A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8160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$81,650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C5A370-2AA6-4DE4-B7DC-A4076605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0545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Ожидаемые возвраты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AAE6BC-19A3-4F9E-B065-ADF35E2E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55189843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F9AE73-F8CF-4272-855B-AA441BF7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342A9-4599-4087-9294-4F298E60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6EF9C-1A02-499D-B53D-693E9F29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11889-0840-4258-9DB0-EF622157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77460-FEDE-4D5E-B707-A444BFFF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8C270-FF4E-4497-AD90-D9761B57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Workflow validation на NEAR Testnet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D7E12-5F49-4ED4-8F58-90F74DA5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NEAR Testnet поддерживает wallet-authenticated access, contract-aware flows, event references и будущую готовность к settlement.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448B3-4540-45EA-AC81-5312C23C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6299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F7A85-D10B-4A3A-B1F1-759BA19A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7E70E-7AD0-43B1-A48D-D12E1578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8724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Wallet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4439C-4C58-4216-9E6B-7C234F73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990" y="2667000"/>
            <a:ext cx="106299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9E7B6-6E2A-412E-B5E1-D081E820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340" y="28003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F1E3D-230B-4BDE-871E-F52D45D1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067050"/>
            <a:ext cx="8724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Contract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618BB-F2CF-433F-9972-A50DDC07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180" y="2667000"/>
            <a:ext cx="106299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2418-D172-4E47-8158-88B182C6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530" y="28003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53F14-B41E-4465-B09A-C55A1D97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3067050"/>
            <a:ext cx="8724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Event references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0A636-49FA-4E9D-B5D7-111D6EA7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70" y="2667000"/>
            <a:ext cx="106299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1376D-5DC5-4EFB-8CE8-2C94A9B7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720" y="28003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0AC5F-6444-4180-9186-A1C5CB72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3067050"/>
            <a:ext cx="8724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E222F-D730-42DD-9DE2-ABE0F4D5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667000"/>
            <a:ext cx="106299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05AB6-D109-4EA3-B74A-517D67AA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28003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B2D67-EDB9-4103-9446-F546F7F1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10" y="3067050"/>
            <a:ext cx="8724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Settlement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B875F-6B36-4C67-ABD8-7977BD7F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52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Blockchain остается инфраструктурой доверия за investor-friendly интерфейсом.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F4B11-6BC6-4130-9162-E6845306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45529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9b52fcdf64457"/>
          <a:stretch xmlns:a="http://schemas.openxmlformats.org/drawingml/2006/main"/>
        </p:blipFill>
        <p:spPr>
          <a:xfrm xmlns:a="http://schemas.openxmlformats.org/drawingml/2006/main">
            <a:off x="7029450" y="2534245"/>
            <a:ext cx="4400550" cy="2475309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9826C3-E51D-4483-8489-77F56834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4E0881-1C75-4A53-B451-0F015F36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48275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Wallet-authenticated interface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537A2A-22FE-4B16-A30F-3B5257B6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7135044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6D8CFD-C81D-447D-9316-AAF1A7AC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274D1-7D71-4BB7-BD73-22D7E33A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7A660-F620-44A1-83D3-68E31FEA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D75F-5345-4B5F-AD4D-CF9F931E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E20A2-9039-4643-991B-06ACEDD5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1E71C-705E-4D11-A4FF-E98EE3F6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Investment Lifecycle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534A5-06FE-469D-890F-554A59DA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AgriPartners упаковывает агропроекты в понятный, контролируемый и повторяемый инвестиционный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3E2A7-EEED-4D59-9C16-7E25AFA5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D2A4E-D668-471E-836C-F071C2F2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132CE-C331-4967-8F15-14B28EC3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Project intake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F34A9-B4F3-4960-B1D4-8B901830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457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ECCAE-F649-49FC-954B-57927094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807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F5F23-E1F5-49C7-8C1B-9BF82E55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707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Investor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99CE3-07D6-4CA4-8428-CB0003C3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114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766A8-E742-447A-93E6-ACB95EA7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464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3F5D7-667F-4E09-9427-11521D97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364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94F46-7918-493F-AE35-5BA0550B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771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76F32-B685-4F8D-A3B1-745E81F7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121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96929-25C2-4C92-84F5-CF34F9A9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021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Farm 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EBD0A1-BFAC-43DC-867F-B80EACE0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429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E50645-27BD-4D3F-9412-299DCF34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779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7AAF2-FD18-4E87-80B0-6D4CECB9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679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88DEDB-57EC-4C4B-BB06-56B3D713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086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B72538-C4D8-4773-B559-629E6304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436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5798E0-CF28-407A-944F-E0EE9AF5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336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Return tracking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7A791-55C1-4BDA-AD72-7C0247F9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743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6488B9-2BAD-466B-9D51-59C358AA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093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D969D4-4274-4CE4-9DEB-7E1F9F0C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993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Admin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78960F-90B1-4DB6-B696-F6D88FE9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CB2948-D17E-418C-BB7C-AA8CF194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4D9F4A-9AC9-4CD6-A17F-0A9380DE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$100,000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043303-025A-4790-AA42-7C247B5B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Общий объем пилотного финансирования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3E5CE3-12BB-45F4-B5B8-4C08F7BF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B7562B-E252-446D-A75A-AAF1D04E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31E6B7-8583-4600-9D1B-1D479BCC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$163,650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576B2B-775E-467D-BE1D-C3D0F82A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Ожидаемые возвраты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1F1DB9-C3A3-4F8F-A5EB-9E9B464F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CB9179-A486-4BF5-A164-803F2999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DAD503-B076-4580-8135-9EBF63CC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$82,000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8B66C8-454D-4AB3-8A9B-E50D1726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Возвращено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98EB81-21D9-42CD-A89D-0D1B933A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89D582-BAFC-4566-856B-FB2B7FB4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522B88-247F-4187-8743-0EABBC73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rPr>
              <a:t>64%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39AC02-82F5-4C4C-BE1A-9877E67F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ROI Fidlot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DC3801-D9F4-441F-9235-59F5E960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B34CBC-3929-42E2-A9EC-C0A23F11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FA4E90-8BF8-4398-AEF1-B9433A9A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rPr>
              <a:t>63.3%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B98A1E-E2F6-4215-929C-21CF5F0A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Прогнозный ROI Hissar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F1388F-A7A8-49A4-BC91-7CD616CA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6774490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8CEC1D-DAA3-44DA-95F7-74B1D03B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469F0-997B-4CD1-95D1-82D2C8D9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571E6-9722-478B-8E41-E28DD062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1DB64-3164-47EE-9C28-BD99C4BE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1A208-C5D2-4D2E-836A-C2A51E88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B3673-FB22-4DFA-875D-7F6D6051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Выручка вокруг проверяемых агросделок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8A9C0-22D2-469F-97FB-36E6F730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Бизнес-модель начинается с pilot validation, затем монетизируется через успешные возвраты, reporting и партнерскую дистрибуцию.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8933D-7AF4-455D-BCEF-4B6007C5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B18B1-D34D-4F2A-A730-E2A2D81D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44F2B-1D43-4A28-9AEB-A308A0D0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Platform fee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A26DE-DF4E-447D-B3C7-807B2608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Success-linked fee на проверенных инвестиционных возвратах.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66026-BCEB-4384-8985-C81002ED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D29C9-E01F-4915-96DA-81370C16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D480F-2004-4C32-B32C-CAC16A49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241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Structuring fee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01B4E-0486-44E7-917A-9F55956E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384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Подготовка одобренных агропроектов.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B8BE9-DCA7-4934-90CB-2570744E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80AAF-511C-4516-B278-9ECBB3A0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69743-D31A-430E-B77D-089F5E59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Investor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E3307-9860-4131-AF9E-B34BD1C7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Reporting и portfolio management workflows.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48E13-CF34-4C78-88E5-494C7AD8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5A388-57F0-49E4-824F-220FBDF7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0A5F1-CEC2-45DF-81F8-ECB4E8A1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719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Partner programs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EFE35C-5FF9-47CD-9D1D-5D7EF516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Региональные операторы, фонды и ecosystem sponsors.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E52742-390F-40EE-B923-7E093937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32384808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A6BB0-BA3B-44C8-AD53-EB95B34E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C97DC-73F6-442C-8763-0408D59B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7BEAA-CCD1-4808-B988-647BAAF3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F21A1-F0CA-4F54-A12A-A0A6B811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629D7-2CC2-4515-9672-7AF8E81B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782AF-6577-4B1C-B185-2FA58CBE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Alpha v1 готова к внешним демонстрациям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FF665-F500-4AFA-8FEC-BE250C4A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Текущий продукт демонстрирует два пилота, role-specific portals, return tracking, admin oversight и NEAR Testnet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B1EA6-ED87-4925-9F75-B8416531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E2922-848C-4534-9B8A-A0944EBE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Investor Dashboard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A3355-423C-4C3D-9AF8-4CE87E1F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6ED3A-C26E-4078-9E64-4698FD9A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Пилотные сделки Fidlot и Hissar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580D5-06D2-4379-8A72-BDF6E10D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FBA02-60FA-4967-8469-7FAD5453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Farmer reporting и Admin oversight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978E9-F28B-463A-8813-DFB32CE7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381DF-5402-4A71-9D8F-F59337E5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NEAR Testnet workflow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2ADED-D6A2-421F-A796-94B24BD7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51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65F85-C084-455B-9629-CD88F40A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DAB7F-5854-46C4-8D1D-082263A2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10175"/>
            <a:ext cx="1187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$100,000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D8837-BD29-4B0D-97A2-5C3DF728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34025"/>
            <a:ext cx="118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Общий объем пилотного финансирования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9910C-C9A0-4D76-84B3-FCC794B5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5095875"/>
            <a:ext cx="151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129C5-787A-4F4E-B47B-345A36B0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5095875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1F6BAE-99DF-43B8-8913-A43B3EAC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450" y="5210175"/>
            <a:ext cx="1187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$163,650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ED07E1-D646-4369-8400-1558B15E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450" y="5534025"/>
            <a:ext cx="118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Ожидаемые возвраты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D36809-87AA-40FB-B55F-44C59003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5095875"/>
            <a:ext cx="151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B43B2F-954B-446D-8EB5-398558E8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5095875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3BCC30-C876-4B4C-863F-70226E22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5210175"/>
            <a:ext cx="1187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$82,000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D82994-B863-4396-848D-7A3FD190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5534025"/>
            <a:ext cx="118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Возвращено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20BA51-B64A-418E-AF62-0DBC3689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5010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a52af49324acc"/>
          <a:stretch xmlns:a="http://schemas.openxmlformats.org/drawingml/2006/main"/>
        </p:blipFill>
        <p:spPr>
          <a:xfrm xmlns:a="http://schemas.openxmlformats.org/drawingml/2006/main">
            <a:off x="6572250" y="2386608"/>
            <a:ext cx="4857750" cy="2732484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EA6147-263A-4BE3-8C71-8CF4909E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9A54D8-EFD3-4BD5-94FF-8BD2739F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10175"/>
            <a:ext cx="474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Fidlot and Hissar pilot deals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FBBC1E-7830-47CE-AD37-F9FB2DD9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99628152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EE56A3-6CC6-4F35-A356-FF4A22E5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E7DF5-503C-4B63-888C-9A7FDC70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659BD-4A26-4F57-9636-C9726FA8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4ACD3-B376-4BAE-94AD-6D612F0A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1D9EF-71E9-4D64-BD08-40623B9B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6A9F3-F949-40FB-932C-AD11F413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От Alpha demo к пилотному инвестиционному пакету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8DE25-AFAD-490A-A1E4-A51A8677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Следующие milestones: investor feedback, pilot validation, risk documentation, security review и контролируемое расширение.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FE181-6BFA-47A0-870D-7D42EBDB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2B774-FB07-4262-88F2-943984D6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4DAA6-01ED-4331-87F7-21E6BA56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Demo assets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5D155-3BCD-47C2-BAD8-685A9735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457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14015-FAF1-4422-85AA-657DC469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807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BE3F9-9078-4A45-9AF4-EA70118D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707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Investor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629A7-B45B-4F29-87AB-A0625B67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114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C26DB-F4B0-4129-A8E7-75BA2A7D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464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FF099-F435-4757-A225-AE8D1F19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364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Pilot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77B8E-011A-41B5-A931-FD274E12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771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8198A-BFAE-43F4-84BC-A2701F54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121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49E07-2A8C-4D85-A64C-75F32D79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021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Risk/legal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8E221-7CF5-4B20-9E67-F78BC319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429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0B901-ED75-4938-B278-11755086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779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1FAD0-2EF7-44B3-8F28-AB21BBB7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679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Security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D1B37A-CDAF-4F93-BAF6-DD6BAA6C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086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6BCA66-46ED-4AEA-AC33-AE85AB52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436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64636-705B-44CF-A1AE-AEF15FCD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336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Mainnet planning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95F24F-2D7B-4A65-B967-1977135C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743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C1DD75-5BD8-4088-B518-9C77789A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093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007822-D6FE-417A-BE09-6F3BEB0F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993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Controlled expansion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38A603-E31B-495C-9343-DA6B41EF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91DC07-1046-4D5E-B4BC-D25D681B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32574E-C4A4-4D4E-9594-E21CA272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$100,000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4BEE41-A4BF-490E-B94B-818CAA63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Общий объем пилотного финансирования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BF62FD-FD0E-4894-9BA7-8973A4D7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C17AFA-A293-4599-B3C6-2DA2DA05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AB47E3-192D-4829-9163-D7128BF7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$163,650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F8FCF4-94E0-4B80-8E26-0DB2D43C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Ожидаемые возвраты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60C8B1-C040-4901-B4E6-90F6EBE0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4BB1B3-5815-426F-AFBD-D0779C65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6449E3-B5BB-4C96-B17B-50E53298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$82,000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638F0C-EF53-4B00-AEAE-88ED87C6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Возвращено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A314EE-F140-454E-AA08-17B65558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B975BC-2ECF-47ED-A98E-8ED41D7B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315F84-62A2-473F-BBAD-F7C5482D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rPr>
              <a:t>64%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EB6483-9FCF-4487-9ED2-F9A70E9E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ROI Fidlot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FE3137-F350-4961-85BA-413F0938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BBFA7E-9FD8-4DD7-BCF4-842F3366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68E050-A624-4D3B-93F5-201FA4BA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rPr>
              <a:t>63.3%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007755-3F78-4D5A-AA37-C7B861D9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Прогнозный ROI Hissar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FFD861-544C-4CCC-B1CA-9A73452A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20086333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BEA6F9-F3F4-4F21-BC3A-5447C001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E94B9-8A81-45A4-A196-0475598E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F423A-30D5-4C15-9602-58CBAEFB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86343-EFFA-4BDC-90D2-368D25B5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461F2-6760-481C-995C-8DA0C131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A528F-9CE7-4711-A3F1-83BAF1CC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Стратегический капитал и партнеры по pilot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4A749-F1CB-429D-B7C4-B0123AF0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AgriPartners ищет поддержку для перехода от Alpha v1 demonstration к credible pilot investment package.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508DB-BFCE-454D-BD3A-1FDCB833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54D58-9A38-469E-84FF-84C2A81E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EB7CC-41C6-47C3-B66D-F5C59C2B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Strategic investors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A5D47-4B38-4DD6-B88A-49B3E06C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Опыт в agriculture, emerging markets и infrastructure-stage.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5C81E-4F42-4938-BA42-2C5DB66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B2521-E2F2-4C5E-8FC5-5261A909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3D248-AEF4-4B29-9C52-0BF2BBB5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241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Pilot capital partners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BBA24-137A-4E65-9FBE-FC5D3D3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384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Структурированная проверка экономики Fidlot и Hissar.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71824-FA30-470A-894C-0B6C9EEC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062C3-762A-46B5-AD79-F03A664B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20F03-13E0-4462-A625-7DCE77B1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Accelerators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27551-50F2-48C3-923B-95B6EF6C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Fundraising discipline, market access и investor packaging.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ACBE1-40F5-450B-B273-A16FFFAF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F54F7-397A-4AB2-9865-2A70187A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543170-BC4B-4CD3-9D7B-FA63D1AC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719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Ecosystem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55A88-A252-4EA7-8C77-F430291B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NEAR review, introductions, regional partners, legal guidance.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3A2B4-614D-4E70-A05F-1370766A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208838553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4B0AE0-149B-4FB4-8B82-58B6FF29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1539A-05D1-481F-AB33-4226DF58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35329-F9A4-4CD9-A5C3-BD6A1B30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AD472-9C1E-4142-B776-211F9F4D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C1729-9922-487E-AB04-99D3C284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18F64-A19A-443C-A4A2-2D77FE0D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Команда и контакты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9B05B-092D-438E-860F-428E8373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Founder-led execution: рабочая Alpha, конкретные пилоты и investor-readable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76FF6-20C4-4228-8EE2-078947AD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191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FB1B0-E947-493A-8AB6-1227F6DD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08111-9304-492E-AB50-09C4834C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89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E13EA-B774-4EA6-BDBC-4DAE8E38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241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Farhod Muhamadiev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27F65-8BD0-4F4D-A9E4-2748FEE9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62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Founder &amp; Project Lead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7A9C4-1B41-4BD7-9EC0-AA96DC37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Founder-led execution: рабочая Alpha, конкретные пилоты и investor-readable workflows.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7D3C2-15B2-4532-ADCA-FFCDC7F5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24100"/>
            <a:ext cx="6076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176AA-3690-49E0-A2C8-8D131E8F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2415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Следующий шаг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33F5E-C16A-4A8B-9F3D-2FDBE3BD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19450"/>
            <a:ext cx="523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Провести демонстрацию платформы для ролей инвестора, фермера, администратора и NEAR Testnet; затем обсудить экономику пилотов, оценку рисков и соответствие партнёров.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2ACBF-DE18-4CAE-BC71-4841B163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6720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B00E6-64AD-4F6A-9875-76373281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4340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Инвестор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FAAB5-A7F6-4B98-B0BE-89382AE9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14124-63B8-4B33-AA8F-8F89E8B0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4340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Фермер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5900D-F6B7-41C5-96D9-89BADFC2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6720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3EDFD4-6339-41B2-A5C6-830120D4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Администратор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4C4AE0-90B6-47B3-BDB6-EF9F844C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6720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15B8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DCE42-D658-42EC-B74A-6D6A1FEC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4340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315B8C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315B8C"/>
                </a:solidFill>
                <a:latin typeface="Aptos"/>
                <a:ea typeface="Aptos"/>
                <a:cs typeface="Aptos"/>
              </a:rPr>
              <a:t>NEAR Testnet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687F5-CF25-477F-862B-F410E806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07264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BCAC96-4AF9-4F20-8505-492D4357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82B580-9898-4C5C-99A5-036826BD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$100,000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2ACDB2-87AB-4411-ABDD-BCD99D4C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Общий объем пилотного финансирования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C305CD-505B-4D45-90FF-52BB374F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5238750"/>
            <a:ext cx="207264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E83512-0613-41D8-8C23-F739B8FE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5238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B53CF2-4946-46A0-A24A-08385739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53530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$163,650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FA44D3-E451-4EA0-85A5-287809BE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57340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Ожидаемые возвраты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676658-CAC6-4C88-ADAA-AB1C0EBF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5238750"/>
            <a:ext cx="207264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1D7F9F-F117-4192-A181-DA058DFE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5238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4FE3A8-0DE1-469B-9BA1-540E73E3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53530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$82,000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850555-C9A8-4C11-9635-49DDAF38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57340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Возвращено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833DF5-BECB-4FD5-BFE3-49C62A56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5238750"/>
            <a:ext cx="207264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18BC47-8B33-435A-B542-6434A62D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5238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59B993-512D-419D-BD05-638EB435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53530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rPr>
              <a:t>64%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6DAF0B-ADF7-4D47-8993-ED224248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57340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ROI Fidlot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740F44-D184-45C7-92F7-6228D5AE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5238750"/>
            <a:ext cx="207264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9E4CC5-5610-4579-984B-05672321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5238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71FAD3-E4DE-4AAA-A557-FE092FA0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53530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rPr>
              <a:t>63.3%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3F5A3C-EE45-444B-AAF9-25580411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57340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Прогнозный ROI Hissar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552B5E-94D3-4732-A42F-E129E08B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35368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2026-06-11T12:51:37.4340000Z</dcterms:created>
  <dcterms:modified xsi:type="dcterms:W3CDTF">2026-06-11T12:51:37.4340000Z</dcterms:modified>
</coreProperties>
</file>