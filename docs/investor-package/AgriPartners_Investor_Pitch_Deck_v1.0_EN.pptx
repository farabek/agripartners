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9c860bcbba74ff7" /><Relationship Type="http://schemas.openxmlformats.org/officeDocument/2006/relationships/extended-properties" Target="/docProps/app.xml" Id="R72bcaf02b0704e5e" /><Relationship Type="http://schemas.openxmlformats.org/officeDocument/2006/relationships/officeDocument" Target="/ppt/presentation.xml" Id="R96c31345fcc94cb1" /></Relationships>
</file>

<file path=ppt/presentation.xml><?xml version="1.0" encoding="utf-8"?>
<p:presentation xmlns:p="http://schemas.openxmlformats.org/presentationml/2006/main">
  <p:sldMasterIdLst>
    <p:sldMasterId xmlns:r="http://schemas.openxmlformats.org/officeDocument/2006/relationships" id="2147483648" r:id="Rcd58effe0d6245d5"/>
  </p:sldMasterIdLst>
  <p:notesMasterIdLst>
    <p:notesMasterId xmlns:r="http://schemas.openxmlformats.org/officeDocument/2006/relationships" r:id="R5b2f4e5c8524443d"/>
  </p:notesMasterIdLst>
  <p:sldIdLst>
    <p:sldId xmlns:r="http://schemas.openxmlformats.org/officeDocument/2006/relationships" id="256" r:id="R7cc051c7cb804895"/>
    <p:sldId xmlns:r="http://schemas.openxmlformats.org/officeDocument/2006/relationships" id="257" r:id="Rc8a9654f1ad047a8"/>
    <p:sldId xmlns:r="http://schemas.openxmlformats.org/officeDocument/2006/relationships" id="258" r:id="R1fe8ca7f70594259"/>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07e76da2e6e43ac" /><Relationship Type="http://schemas.openxmlformats.org/officeDocument/2006/relationships/slideMaster" Target="/ppt/slideMasters/slideMaster1.xml" Id="Rcd58effe0d6245d5" /><Relationship Type="http://schemas.openxmlformats.org/officeDocument/2006/relationships/notesMaster" Target="/ppt/notesMasters/notesMaster1.xml" Id="R5b2f4e5c8524443d" /><Relationship Type="http://schemas.openxmlformats.org/officeDocument/2006/relationships/presProps" Target="/ppt/presProps.xml" Id="R7c31b335ffdb45f9" /><Relationship Type="http://schemas.openxmlformats.org/officeDocument/2006/relationships/viewProps" Target="/ppt/viewProps.xml" Id="R3a8f3ebbdb97411b" /><Relationship Type="http://schemas.openxmlformats.org/officeDocument/2006/relationships/tableStyles" Target="/ppt/tableStyles.xml" Id="Rcfc8647e1849459f" /><Relationship Type="http://schemas.openxmlformats.org/officeDocument/2006/relationships/slide" Target="/ppt/slides/slide1.xml" Id="R7cc051c7cb804895" /><Relationship Type="http://schemas.openxmlformats.org/officeDocument/2006/relationships/slide" Target="/ppt/slides/slide2.xml" Id="Rc8a9654f1ad047a8" /><Relationship Type="http://schemas.openxmlformats.org/officeDocument/2006/relationships/slide" Target="/ppt/slides/slide3.xml" Id="R1fe8ca7f7059425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185cacb935a4a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05312cf19654067" /><Relationship Type="http://schemas.openxmlformats.org/officeDocument/2006/relationships/notesMaster" Target="/ppt/notesMasters/notesMaster1.xml" Id="Rabc08af4cc944107" /></Relationships>
</file>

<file path=ppt/notesSlides/_rels/notesSlide2.xml.rels>&#65279;<?xml version="1.0" encoding="utf-8"?><Relationships xmlns="http://schemas.openxmlformats.org/package/2006/relationships"><Relationship Type="http://schemas.openxmlformats.org/officeDocument/2006/relationships/slide" Target="/ppt/slides/slide2.xml" Id="R1c32cf5714c545d4" /><Relationship Type="http://schemas.openxmlformats.org/officeDocument/2006/relationships/notesMaster" Target="/ppt/notesMasters/notesMaster1.xml" Id="Rbb6d59905a9b4047" /></Relationships>
</file>

<file path=ppt/notesSlides/_rels/notesSlide3.xml.rels>&#65279;<?xml version="1.0" encoding="utf-8"?><Relationships xmlns="http://schemas.openxmlformats.org/package/2006/relationships"><Relationship Type="http://schemas.openxmlformats.org/officeDocument/2006/relationships/slide" Target="/ppt/slides/slide3.xml" Id="R861553d7666a401b" /><Relationship Type="http://schemas.openxmlformats.org/officeDocument/2006/relationships/notesMaster" Target="/ppt/notesMasters/notesMaster1.xml" Id="Rdfb19674a6a945b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AgriPartners is building digital infrastructure for transparent agricultural investment workflows. Today I will show the problem we are addressing, the workflow we have designed, and a live Alpha demonstration. The current product is Alpha v1.1 and uses NEAR Testnet for selected infrastructure experiments. This is an investor demonstration only: there are no live investments, production custody, or production Settlement capabilities in this release. The purpose of this presentation is to make the product direction, operating model, and next validation steps clear.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Agricultural investment does not become transparent simply because a Project has been funded. Investors still need reliable visibility through production, reporting, returns, and Settlement. In many current workflows, Project information is fragmented, progress is difficult to track, reporting is inconsistent, and documents are stored across multiple channels. That creates an information gap precisely when investor trust matters most. The core problem AgriPartners addresses is therefore not only access to funding. It is maintaining a structured, reviewable evidence trail across the complete investment lifecycle.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AgriPartners organizes the investment lifecycle around one managed Project workflow. Investors review approved Project information and progress through AgriPartners. Farmers work with AgriPartners as the Project Operator, execute agricultural activities, and submit reports and evidence. Operators coordinate the workflow, review information, manage lifecycle states, and prepare Settlement context. Supporting modules bring Project Reports, Project Documents, Treasury visibility, Settlement status, and Project tracking into one coherent system. The result is not merely another dashboard; it is shared Project context with appropriate visibility for each participant.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8eb5d654e5a47c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296e22db8fe4f10" /><Relationship Type="http://schemas.openxmlformats.org/officeDocument/2006/relationships/slideLayout" Target="/ppt/slideLayouts/slideLayout1.xml" Id="Rdd94e7aa887f46e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d94e7aa887f46e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726b5ffd1e94a4f" /><Relationship Type="http://schemas.openxmlformats.org/officeDocument/2006/relationships/notesSlide" Target="/ppt/notesSlides/notesSlide1.xml" Id="R966f7486ceb740e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593cb2b05ab4ad9" /><Relationship Type="http://schemas.openxmlformats.org/officeDocument/2006/relationships/notesSlide" Target="/ppt/notesSlides/notesSlide2.xml" Id="R7aacd6d3ca244f2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30efe6c7b63426b" /><Relationship Type="http://schemas.openxmlformats.org/officeDocument/2006/relationships/notesSlide" Target="/ppt/notesSlides/notesSlide3.xml" Id="Rf06aaa7aaef24180" /></Relationships>
</file>

<file path=ppt/slides/slide1.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 name="top-rule">
            <a:extLst xmlns:a="http://schemas.openxmlformats.org/drawingml/2006/main">
              <a:ext uri="{FF2B5EF4-FFF2-40B4-BE49-F238E27FC236}">
                <a16:creationId xmlns:a16="http://schemas.microsoft.com/office/drawing/2014/main" id="{DA3685CA-625B-4944-A76C-9807FD24DA4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2E7D5B"/>
          </a:solidFill>
          <a:ln xmlns:a="http://schemas.openxmlformats.org/drawingml/2006/main" w="0">
            <a:solidFill>
              <a:srgbClr val="2E7D5B"/>
            </a:solidFill>
            <a:prstDash val="solid"/>
          </a:ln>
        </p:spPr>
      </p:sp>
      <p:sp>
        <p:nvSpPr>
          <p:cNvPr id="2" name="kicker-marker">
            <a:extLst xmlns:a="http://schemas.openxmlformats.org/drawingml/2006/main">
              <a:ext uri="{FF2B5EF4-FFF2-40B4-BE49-F238E27FC236}">
                <a16:creationId xmlns:a16="http://schemas.microsoft.com/office/drawing/2014/main" id="{03A7E805-0C56-4520-BD11-BA4B175CBE01}"/>
              </a:ext>
            </a:extLst>
          </p:cNvPr>
          <p:cNvSpPr>
            <a:spLocks xmlns:a="http://schemas.openxmlformats.org/drawingml/2006/main" noGrp="1"/>
          </p:cNvSpPr>
          <p:nvPr/>
        </p:nvSpPr>
        <p:spPr>
          <a:xfrm xmlns:a="http://schemas.openxmlformats.org/drawingml/2006/main">
            <a:off x="457200" y="304800"/>
            <a:ext cx="285750" cy="19050"/>
          </a:xfrm>
          <a:prstGeom xmlns:a="http://schemas.openxmlformats.org/drawingml/2006/main" prst="rect">
            <a:avLst/>
          </a:prstGeom>
          <a:solidFill xmlns:a="http://schemas.openxmlformats.org/drawingml/2006/main">
            <a:srgbClr val="2E7D5B"/>
          </a:solidFill>
          <a:ln xmlns:a="http://schemas.openxmlformats.org/drawingml/2006/main" w="0">
            <a:solidFill>
              <a:srgbClr val="2E7D5B"/>
            </a:solidFill>
            <a:prstDash val="solid"/>
          </a:ln>
        </p:spPr>
      </p:sp>
      <p:sp>
        <p:nvSpPr>
          <p:cNvPr id="3" name="kicker-label">
            <a:extLst xmlns:a="http://schemas.openxmlformats.org/drawingml/2006/main">
              <a:ext uri="{FF2B5EF4-FFF2-40B4-BE49-F238E27FC236}">
                <a16:creationId xmlns:a16="http://schemas.microsoft.com/office/drawing/2014/main" id="{521D6166-F1E2-452D-839F-03D4A48F67C2}"/>
              </a:ext>
            </a:extLst>
          </p:cNvPr>
          <p:cNvSpPr>
            <a:spLocks xmlns:a="http://schemas.openxmlformats.org/drawingml/2006/main" noGrp="1"/>
          </p:cNvSpPr>
          <p:nvPr/>
        </p:nvSpPr>
        <p:spPr>
          <a:xfrm xmlns:a="http://schemas.openxmlformats.org/drawingml/2006/main">
            <a:off x="838200" y="190500"/>
            <a:ext cx="4095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2E7D5B"/>
                </a:solidFill>
                <a:latin typeface="Aptos"/>
                <a:ea typeface="Aptos"/>
                <a:cs typeface="Aptos"/>
              </a:defRPr>
            </a:pPr>
            <a:r>
              <a:rPr sz="900" b="1">
                <a:solidFill>
                  <a:srgbClr val="2E7D5B"/>
                </a:solidFill>
                <a:latin typeface="Aptos"/>
                <a:ea typeface="Aptos"/>
                <a:cs typeface="Aptos"/>
              </a:rPr>
              <a:t>INVESTOR INTRODUCTION</a:t>
            </a:r>
          </a:p>
        </p:txBody>
      </p:sp>
      <p:sp>
        <p:nvSpPr>
          <p:cNvPr id="4" name="">
            <a:extLst xmlns:a="http://schemas.openxmlformats.org/drawingml/2006/main">
              <a:ext uri="{FF2B5EF4-FFF2-40B4-BE49-F238E27FC236}">
                <a16:creationId xmlns:a16="http://schemas.microsoft.com/office/drawing/2014/main" id="{263E0014-7333-4F07-B97B-47F6ACD428C3}"/>
              </a:ext>
            </a:extLst>
          </p:cNvPr>
          <p:cNvSpPr>
            <a:spLocks xmlns:a="http://schemas.openxmlformats.org/drawingml/2006/main" noGrp="1"/>
          </p:cNvSpPr>
          <p:nvPr/>
        </p:nvSpPr>
        <p:spPr>
          <a:xfrm xmlns:a="http://schemas.openxmlformats.org/drawingml/2006/main">
            <a:off x="457200" y="6505575"/>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0">
                <a:solidFill>
                  <a:srgbClr val="65736F"/>
                </a:solidFill>
                <a:latin typeface="Aptos"/>
                <a:ea typeface="Aptos"/>
                <a:cs typeface="Aptos"/>
              </a:defRPr>
            </a:pPr>
            <a:r>
              <a:rPr sz="750" b="0">
                <a:solidFill>
                  <a:srgbClr val="65736F"/>
                </a:solidFill>
                <a:latin typeface="Aptos"/>
                <a:ea typeface="Aptos"/>
                <a:cs typeface="Aptos"/>
              </a:rPr>
              <a:t>AgriPartners  •  Investor Pitch Deck v1.0</a:t>
            </a:r>
          </a:p>
        </p:txBody>
      </p:sp>
      <p:sp>
        <p:nvSpPr>
          <p:cNvPr id="5" name="">
            <a:extLst xmlns:a="http://schemas.openxmlformats.org/drawingml/2006/main">
              <a:ext uri="{FF2B5EF4-FFF2-40B4-BE49-F238E27FC236}">
                <a16:creationId xmlns:a16="http://schemas.microsoft.com/office/drawing/2014/main" id="{3C577EE6-B991-4AF5-AE22-33EB5E26B57E}"/>
              </a:ext>
            </a:extLst>
          </p:cNvPr>
          <p:cNvSpPr>
            <a:spLocks xmlns:a="http://schemas.openxmlformats.org/drawingml/2006/main" noGrp="1"/>
          </p:cNvSpPr>
          <p:nvPr/>
        </p:nvSpPr>
        <p:spPr>
          <a:xfrm xmlns:a="http://schemas.openxmlformats.org/drawingml/2006/main">
            <a:off x="11239500" y="6505575"/>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r">
              <a:defRPr sz="750" b="0">
                <a:solidFill>
                  <a:srgbClr val="65736F"/>
                </a:solidFill>
                <a:latin typeface="Aptos"/>
                <a:ea typeface="Aptos"/>
                <a:cs typeface="Aptos"/>
              </a:defRPr>
            </a:pPr>
            <a:r>
              <a:rPr sz="750" b="0">
                <a:solidFill>
                  <a:srgbClr val="65736F"/>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22D024AC-E6B9-424C-82B9-04489378CEF2}"/>
              </a:ext>
            </a:extLst>
          </p:cNvPr>
          <p:cNvSpPr>
            <a:spLocks xmlns:a="http://schemas.openxmlformats.org/drawingml/2006/main" noGrp="1"/>
          </p:cNvSpPr>
          <p:nvPr/>
        </p:nvSpPr>
        <p:spPr>
          <a:xfrm xmlns:a="http://schemas.openxmlformats.org/drawingml/2006/main">
            <a:off x="514350" y="990600"/>
            <a:ext cx="628650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4950" b="1">
                <a:solidFill>
                  <a:srgbClr val="173F36"/>
                </a:solidFill>
                <a:latin typeface="Aptos"/>
                <a:ea typeface="Aptos"/>
                <a:cs typeface="Aptos"/>
              </a:defRPr>
            </a:pPr>
            <a:r>
              <a:rPr sz="4950" b="1">
                <a:solidFill>
                  <a:srgbClr val="173F36"/>
                </a:solidFill>
                <a:latin typeface="Aptos"/>
                <a:ea typeface="Aptos"/>
                <a:cs typeface="Aptos"/>
              </a:rPr>
              <a:t>AgriPartners</a:t>
            </a:r>
          </a:p>
        </p:txBody>
      </p:sp>
      <p:sp>
        <p:nvSpPr>
          <p:cNvPr id="7" name="">
            <a:extLst xmlns:a="http://schemas.openxmlformats.org/drawingml/2006/main">
              <a:ext uri="{FF2B5EF4-FFF2-40B4-BE49-F238E27FC236}">
                <a16:creationId xmlns:a16="http://schemas.microsoft.com/office/drawing/2014/main" id="{24E699BB-8C38-49A1-B4A4-56E996C000DA}"/>
              </a:ext>
            </a:extLst>
          </p:cNvPr>
          <p:cNvSpPr>
            <a:spLocks xmlns:a="http://schemas.openxmlformats.org/drawingml/2006/main" noGrp="1"/>
          </p:cNvSpPr>
          <p:nvPr/>
        </p:nvSpPr>
        <p:spPr>
          <a:xfrm xmlns:a="http://schemas.openxmlformats.org/drawingml/2006/main">
            <a:off x="533400" y="1866900"/>
            <a:ext cx="6191250" cy="895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00" b="1">
                <a:solidFill>
                  <a:srgbClr val="20332E"/>
                </a:solidFill>
                <a:latin typeface="Aptos"/>
                <a:ea typeface="Aptos"/>
                <a:cs typeface="Aptos"/>
              </a:defRPr>
            </a:pPr>
            <a:r>
              <a:rPr sz="2400" b="1">
                <a:solidFill>
                  <a:srgbClr val="20332E"/>
                </a:solidFill>
                <a:latin typeface="Aptos"/>
                <a:ea typeface="Aptos"/>
                <a:cs typeface="Aptos"/>
              </a:rPr>
              <a:t>Building Transparent Agricultural</a:t>
            </a:r>
          </a:p>
          <a:p xmlns:a="http://schemas.openxmlformats.org/drawingml/2006/main">
            <a:pPr algn="l">
              <a:defRPr sz="2400" b="1">
                <a:solidFill>
                  <a:srgbClr val="20332E"/>
                </a:solidFill>
                <a:latin typeface="Aptos"/>
                <a:ea typeface="Aptos"/>
                <a:cs typeface="Aptos"/>
              </a:defRPr>
            </a:pPr>
            <a:r>
              <a:rPr sz="2400" b="1">
                <a:solidFill>
                  <a:srgbClr val="20332E"/>
                </a:solidFill>
                <a:latin typeface="Aptos"/>
                <a:ea typeface="Aptos"/>
                <a:cs typeface="Aptos"/>
              </a:rPr>
              <a:t>Investment Infrastructure</a:t>
            </a:r>
          </a:p>
        </p:txBody>
      </p:sp>
      <p:sp>
        <p:nvSpPr>
          <p:cNvPr id="8" name="">
            <a:extLst xmlns:a="http://schemas.openxmlformats.org/drawingml/2006/main">
              <a:ext uri="{FF2B5EF4-FFF2-40B4-BE49-F238E27FC236}">
                <a16:creationId xmlns:a16="http://schemas.microsoft.com/office/drawing/2014/main" id="{331CB30E-B855-4DDD-A087-734DBD3FEE07}"/>
              </a:ext>
            </a:extLst>
          </p:cNvPr>
          <p:cNvSpPr>
            <a:spLocks xmlns:a="http://schemas.openxmlformats.org/drawingml/2006/main" noGrp="1"/>
          </p:cNvSpPr>
          <p:nvPr/>
        </p:nvSpPr>
        <p:spPr>
          <a:xfrm xmlns:a="http://schemas.openxmlformats.org/drawingml/2006/main">
            <a:off x="552450" y="2914650"/>
            <a:ext cx="523875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65736F"/>
                </a:solidFill>
                <a:latin typeface="Aptos"/>
                <a:ea typeface="Aptos"/>
                <a:cs typeface="Aptos"/>
              </a:defRPr>
            </a:pPr>
            <a:r>
              <a:rPr sz="1425" b="0">
                <a:solidFill>
                  <a:srgbClr val="65736F"/>
                </a:solidFill>
                <a:latin typeface="Aptos"/>
                <a:ea typeface="Aptos"/>
                <a:cs typeface="Aptos"/>
              </a:rPr>
              <a:t>A Project-centric workflow for visibility from opportunity review through reporting and Settlement.</a:t>
            </a:r>
          </a:p>
        </p:txBody>
      </p:sp>
      <p:sp>
        <p:nvSpPr>
          <p:cNvPr id="9" name="status-panel">
            <a:extLst xmlns:a="http://schemas.openxmlformats.org/drawingml/2006/main">
              <a:ext uri="{FF2B5EF4-FFF2-40B4-BE49-F238E27FC236}">
                <a16:creationId xmlns:a16="http://schemas.microsoft.com/office/drawing/2014/main" id="{4DEAF14D-67FA-4B9B-A56E-E09073FFA41D}"/>
              </a:ext>
            </a:extLst>
          </p:cNvPr>
          <p:cNvSpPr>
            <a:spLocks xmlns:a="http://schemas.openxmlformats.org/drawingml/2006/main" noGrp="1"/>
          </p:cNvSpPr>
          <p:nvPr/>
        </p:nvSpPr>
        <p:spPr>
          <a:xfrm xmlns:a="http://schemas.openxmlformats.org/drawingml/2006/main">
            <a:off x="7753350" y="685800"/>
            <a:ext cx="3981450" cy="4495800"/>
          </a:xfrm>
          <a:prstGeom xmlns:a="http://schemas.openxmlformats.org/drawingml/2006/main" prst="rect">
            <a:avLst/>
          </a:prstGeom>
          <a:solidFill xmlns:a="http://schemas.openxmlformats.org/drawingml/2006/main">
            <a:srgbClr val="173F36"/>
          </a:solidFill>
          <a:ln xmlns:a="http://schemas.openxmlformats.org/drawingml/2006/main" w="0">
            <a:solidFill>
              <a:srgbClr val="173F36"/>
            </a:solidFill>
            <a:prstDash val="solid"/>
          </a:ln>
        </p:spPr>
      </p:sp>
      <p:sp>
        <p:nvSpPr>
          <p:cNvPr id="10" name="">
            <a:extLst xmlns:a="http://schemas.openxmlformats.org/drawingml/2006/main">
              <a:ext uri="{FF2B5EF4-FFF2-40B4-BE49-F238E27FC236}">
                <a16:creationId xmlns:a16="http://schemas.microsoft.com/office/drawing/2014/main" id="{B0C036B7-BC89-49BA-902E-67CE8704A284}"/>
              </a:ext>
            </a:extLst>
          </p:cNvPr>
          <p:cNvSpPr>
            <a:spLocks xmlns:a="http://schemas.openxmlformats.org/drawingml/2006/main" noGrp="1"/>
          </p:cNvSpPr>
          <p:nvPr/>
        </p:nvSpPr>
        <p:spPr>
          <a:xfrm xmlns:a="http://schemas.openxmlformats.org/drawingml/2006/main">
            <a:off x="8096250" y="990600"/>
            <a:ext cx="3048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A9D9C3"/>
                </a:solidFill>
                <a:latin typeface="Aptos"/>
                <a:ea typeface="Aptos"/>
                <a:cs typeface="Aptos"/>
              </a:defRPr>
            </a:pPr>
            <a:r>
              <a:rPr sz="900" b="1">
                <a:solidFill>
                  <a:srgbClr val="A9D9C3"/>
                </a:solidFill>
                <a:latin typeface="Aptos"/>
                <a:ea typeface="Aptos"/>
                <a:cs typeface="Aptos"/>
              </a:rPr>
              <a:t>CURRENT STATUS</a:t>
            </a:r>
          </a:p>
        </p:txBody>
      </p:sp>
      <p:sp>
        <p:nvSpPr>
          <p:cNvPr id="11" name="">
            <a:extLst xmlns:a="http://schemas.openxmlformats.org/drawingml/2006/main">
              <a:ext uri="{FF2B5EF4-FFF2-40B4-BE49-F238E27FC236}">
                <a16:creationId xmlns:a16="http://schemas.microsoft.com/office/drawing/2014/main" id="{C257FE4F-40DE-4955-92BB-61C9A4BAD4D6}"/>
              </a:ext>
            </a:extLst>
          </p:cNvPr>
          <p:cNvSpPr>
            <a:spLocks xmlns:a="http://schemas.openxmlformats.org/drawingml/2006/main" noGrp="1"/>
          </p:cNvSpPr>
          <p:nvPr/>
        </p:nvSpPr>
        <p:spPr>
          <a:xfrm xmlns:a="http://schemas.openxmlformats.org/drawingml/2006/main">
            <a:off x="8096250" y="2038350"/>
            <a:ext cx="3143250" cy="9525"/>
          </a:xfrm>
          <a:prstGeom xmlns:a="http://schemas.openxmlformats.org/drawingml/2006/main" prst="rect">
            <a:avLst/>
          </a:prstGeom>
          <a:solidFill xmlns:a="http://schemas.openxmlformats.org/drawingml/2006/main">
            <a:srgbClr val="477065"/>
          </a:solidFill>
          <a:ln xmlns:a="http://schemas.openxmlformats.org/drawingml/2006/main" w="0">
            <a:solidFill>
              <a:srgbClr val="477065"/>
            </a:solidFill>
            <a:prstDash val="solid"/>
          </a:ln>
        </p:spPr>
      </p:sp>
      <p:sp>
        <p:nvSpPr>
          <p:cNvPr id="12" name="">
            <a:extLst xmlns:a="http://schemas.openxmlformats.org/drawingml/2006/main">
              <a:ext uri="{FF2B5EF4-FFF2-40B4-BE49-F238E27FC236}">
                <a16:creationId xmlns:a16="http://schemas.microsoft.com/office/drawing/2014/main" id="{78F2A47D-5C5B-40A3-AC21-077DD2786A71}"/>
              </a:ext>
            </a:extLst>
          </p:cNvPr>
          <p:cNvSpPr>
            <a:spLocks xmlns:a="http://schemas.openxmlformats.org/drawingml/2006/main" noGrp="1"/>
          </p:cNvSpPr>
          <p:nvPr/>
        </p:nvSpPr>
        <p:spPr>
          <a:xfrm xmlns:a="http://schemas.openxmlformats.org/drawingml/2006/main">
            <a:off x="8096250" y="1428750"/>
            <a:ext cx="31432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FFFFFF"/>
                </a:solidFill>
                <a:latin typeface="Aptos"/>
                <a:ea typeface="Aptos"/>
                <a:cs typeface="Aptos"/>
              </a:defRPr>
            </a:pPr>
            <a:r>
              <a:rPr sz="1650" b="1">
                <a:solidFill>
                  <a:srgbClr val="FFFFFF"/>
                </a:solidFill>
                <a:latin typeface="Aptos"/>
                <a:ea typeface="Aptos"/>
                <a:cs typeface="Aptos"/>
              </a:rPr>
              <a:t>Alpha v1.1</a:t>
            </a:r>
          </a:p>
        </p:txBody>
      </p:sp>
      <p:sp>
        <p:nvSpPr>
          <p:cNvPr id="13" name="">
            <a:extLst xmlns:a="http://schemas.openxmlformats.org/drawingml/2006/main">
              <a:ext uri="{FF2B5EF4-FFF2-40B4-BE49-F238E27FC236}">
                <a16:creationId xmlns:a16="http://schemas.microsoft.com/office/drawing/2014/main" id="{53D1E396-DDCC-4CCF-A920-AEB94CE688A8}"/>
              </a:ext>
            </a:extLst>
          </p:cNvPr>
          <p:cNvSpPr>
            <a:spLocks xmlns:a="http://schemas.openxmlformats.org/drawingml/2006/main" noGrp="1"/>
          </p:cNvSpPr>
          <p:nvPr/>
        </p:nvSpPr>
        <p:spPr>
          <a:xfrm xmlns:a="http://schemas.openxmlformats.org/drawingml/2006/main">
            <a:off x="8096250" y="1752600"/>
            <a:ext cx="3143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0">
                <a:solidFill>
                  <a:srgbClr val="BBD1C8"/>
                </a:solidFill>
                <a:latin typeface="Aptos"/>
                <a:ea typeface="Aptos"/>
                <a:cs typeface="Aptos"/>
              </a:defRPr>
            </a:pPr>
            <a:r>
              <a:rPr sz="900" b="0">
                <a:solidFill>
                  <a:srgbClr val="BBD1C8"/>
                </a:solidFill>
                <a:latin typeface="Aptos"/>
                <a:ea typeface="Aptos"/>
                <a:cs typeface="Aptos"/>
              </a:rPr>
              <a:t>Product stage</a:t>
            </a:r>
          </a:p>
        </p:txBody>
      </p:sp>
      <p:sp>
        <p:nvSpPr>
          <p:cNvPr id="14" name="">
            <a:extLst xmlns:a="http://schemas.openxmlformats.org/drawingml/2006/main">
              <a:ext uri="{FF2B5EF4-FFF2-40B4-BE49-F238E27FC236}">
                <a16:creationId xmlns:a16="http://schemas.microsoft.com/office/drawing/2014/main" id="{6C7D89DF-27DC-4C7B-85B4-EE5464858548}"/>
              </a:ext>
            </a:extLst>
          </p:cNvPr>
          <p:cNvSpPr>
            <a:spLocks xmlns:a="http://schemas.openxmlformats.org/drawingml/2006/main" noGrp="1"/>
          </p:cNvSpPr>
          <p:nvPr/>
        </p:nvSpPr>
        <p:spPr>
          <a:xfrm xmlns:a="http://schemas.openxmlformats.org/drawingml/2006/main">
            <a:off x="8096250" y="2876550"/>
            <a:ext cx="3143250" cy="9525"/>
          </a:xfrm>
          <a:prstGeom xmlns:a="http://schemas.openxmlformats.org/drawingml/2006/main" prst="rect">
            <a:avLst/>
          </a:prstGeom>
          <a:solidFill xmlns:a="http://schemas.openxmlformats.org/drawingml/2006/main">
            <a:srgbClr val="477065"/>
          </a:solidFill>
          <a:ln xmlns:a="http://schemas.openxmlformats.org/drawingml/2006/main" w="0">
            <a:solidFill>
              <a:srgbClr val="477065"/>
            </a:solidFill>
            <a:prstDash val="solid"/>
          </a:ln>
        </p:spPr>
      </p:sp>
      <p:sp>
        <p:nvSpPr>
          <p:cNvPr id="15" name="">
            <a:extLst xmlns:a="http://schemas.openxmlformats.org/drawingml/2006/main">
              <a:ext uri="{FF2B5EF4-FFF2-40B4-BE49-F238E27FC236}">
                <a16:creationId xmlns:a16="http://schemas.microsoft.com/office/drawing/2014/main" id="{DEA57BE4-DF8D-4E50-892D-E6136ACA12A4}"/>
              </a:ext>
            </a:extLst>
          </p:cNvPr>
          <p:cNvSpPr>
            <a:spLocks xmlns:a="http://schemas.openxmlformats.org/drawingml/2006/main" noGrp="1"/>
          </p:cNvSpPr>
          <p:nvPr/>
        </p:nvSpPr>
        <p:spPr>
          <a:xfrm xmlns:a="http://schemas.openxmlformats.org/drawingml/2006/main">
            <a:off x="8096250" y="2266950"/>
            <a:ext cx="31432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FFFFFF"/>
                </a:solidFill>
                <a:latin typeface="Aptos"/>
                <a:ea typeface="Aptos"/>
                <a:cs typeface="Aptos"/>
              </a:defRPr>
            </a:pPr>
            <a:r>
              <a:rPr sz="1650" b="1">
                <a:solidFill>
                  <a:srgbClr val="FFFFFF"/>
                </a:solidFill>
                <a:latin typeface="Aptos"/>
                <a:ea typeface="Aptos"/>
                <a:cs typeface="Aptos"/>
              </a:rPr>
              <a:t>NEAR Testnet</a:t>
            </a:r>
          </a:p>
        </p:txBody>
      </p:sp>
      <p:sp>
        <p:nvSpPr>
          <p:cNvPr id="16" name="">
            <a:extLst xmlns:a="http://schemas.openxmlformats.org/drawingml/2006/main">
              <a:ext uri="{FF2B5EF4-FFF2-40B4-BE49-F238E27FC236}">
                <a16:creationId xmlns:a16="http://schemas.microsoft.com/office/drawing/2014/main" id="{D577F5A9-E931-420F-8C6E-E5D3D4D74AEB}"/>
              </a:ext>
            </a:extLst>
          </p:cNvPr>
          <p:cNvSpPr>
            <a:spLocks xmlns:a="http://schemas.openxmlformats.org/drawingml/2006/main" noGrp="1"/>
          </p:cNvSpPr>
          <p:nvPr/>
        </p:nvSpPr>
        <p:spPr>
          <a:xfrm xmlns:a="http://schemas.openxmlformats.org/drawingml/2006/main">
            <a:off x="8096250" y="2590800"/>
            <a:ext cx="3143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0">
                <a:solidFill>
                  <a:srgbClr val="BBD1C8"/>
                </a:solidFill>
                <a:latin typeface="Aptos"/>
                <a:ea typeface="Aptos"/>
                <a:cs typeface="Aptos"/>
              </a:defRPr>
            </a:pPr>
            <a:r>
              <a:rPr sz="900" b="0">
                <a:solidFill>
                  <a:srgbClr val="BBD1C8"/>
                </a:solidFill>
                <a:latin typeface="Aptos"/>
                <a:ea typeface="Aptos"/>
                <a:cs typeface="Aptos"/>
              </a:rPr>
              <a:t>Infrastructure environment</a:t>
            </a:r>
          </a:p>
        </p:txBody>
      </p:sp>
      <p:sp>
        <p:nvSpPr>
          <p:cNvPr id="17" name="">
            <a:extLst xmlns:a="http://schemas.openxmlformats.org/drawingml/2006/main">
              <a:ext uri="{FF2B5EF4-FFF2-40B4-BE49-F238E27FC236}">
                <a16:creationId xmlns:a16="http://schemas.microsoft.com/office/drawing/2014/main" id="{2420B52B-D1FA-4B52-BA89-CC25B31AFAD3}"/>
              </a:ext>
            </a:extLst>
          </p:cNvPr>
          <p:cNvSpPr>
            <a:spLocks xmlns:a="http://schemas.openxmlformats.org/drawingml/2006/main" noGrp="1"/>
          </p:cNvSpPr>
          <p:nvPr/>
        </p:nvSpPr>
        <p:spPr>
          <a:xfrm xmlns:a="http://schemas.openxmlformats.org/drawingml/2006/main">
            <a:off x="8096250" y="3714750"/>
            <a:ext cx="3143250" cy="9525"/>
          </a:xfrm>
          <a:prstGeom xmlns:a="http://schemas.openxmlformats.org/drawingml/2006/main" prst="rect">
            <a:avLst/>
          </a:prstGeom>
          <a:solidFill xmlns:a="http://schemas.openxmlformats.org/drawingml/2006/main">
            <a:srgbClr val="477065"/>
          </a:solidFill>
          <a:ln xmlns:a="http://schemas.openxmlformats.org/drawingml/2006/main" w="0">
            <a:solidFill>
              <a:srgbClr val="477065"/>
            </a:solidFill>
            <a:prstDash val="solid"/>
          </a:ln>
        </p:spPr>
      </p:sp>
      <p:sp>
        <p:nvSpPr>
          <p:cNvPr id="18" name="">
            <a:extLst xmlns:a="http://schemas.openxmlformats.org/drawingml/2006/main">
              <a:ext uri="{FF2B5EF4-FFF2-40B4-BE49-F238E27FC236}">
                <a16:creationId xmlns:a16="http://schemas.microsoft.com/office/drawing/2014/main" id="{B5C8E9E9-B860-4BC8-B6B0-923692F5E5B4}"/>
              </a:ext>
            </a:extLst>
          </p:cNvPr>
          <p:cNvSpPr>
            <a:spLocks xmlns:a="http://schemas.openxmlformats.org/drawingml/2006/main" noGrp="1"/>
          </p:cNvSpPr>
          <p:nvPr/>
        </p:nvSpPr>
        <p:spPr>
          <a:xfrm xmlns:a="http://schemas.openxmlformats.org/drawingml/2006/main">
            <a:off x="8096250" y="3105150"/>
            <a:ext cx="31432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FFFFFF"/>
                </a:solidFill>
                <a:latin typeface="Aptos"/>
                <a:ea typeface="Aptos"/>
                <a:cs typeface="Aptos"/>
              </a:defRPr>
            </a:pPr>
            <a:r>
              <a:rPr sz="1650" b="1">
                <a:solidFill>
                  <a:srgbClr val="FFFFFF"/>
                </a:solidFill>
                <a:latin typeface="Aptos"/>
                <a:ea typeface="Aptos"/>
                <a:cs typeface="Aptos"/>
              </a:rPr>
              <a:t>Investor Demonstration</a:t>
            </a:r>
          </a:p>
        </p:txBody>
      </p:sp>
      <p:sp>
        <p:nvSpPr>
          <p:cNvPr id="19" name="">
            <a:extLst xmlns:a="http://schemas.openxmlformats.org/drawingml/2006/main">
              <a:ext uri="{FF2B5EF4-FFF2-40B4-BE49-F238E27FC236}">
                <a16:creationId xmlns:a16="http://schemas.microsoft.com/office/drawing/2014/main" id="{21D0B7ED-7C7F-488B-98EA-EEE9092C8FC7}"/>
              </a:ext>
            </a:extLst>
          </p:cNvPr>
          <p:cNvSpPr>
            <a:spLocks xmlns:a="http://schemas.openxmlformats.org/drawingml/2006/main" noGrp="1"/>
          </p:cNvSpPr>
          <p:nvPr/>
        </p:nvSpPr>
        <p:spPr>
          <a:xfrm xmlns:a="http://schemas.openxmlformats.org/drawingml/2006/main">
            <a:off x="8096250" y="3429000"/>
            <a:ext cx="3143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0">
                <a:solidFill>
                  <a:srgbClr val="BBD1C8"/>
                </a:solidFill>
                <a:latin typeface="Aptos"/>
                <a:ea typeface="Aptos"/>
                <a:cs typeface="Aptos"/>
              </a:defRPr>
            </a:pPr>
            <a:r>
              <a:rPr sz="900" b="0">
                <a:solidFill>
                  <a:srgbClr val="BBD1C8"/>
                </a:solidFill>
                <a:latin typeface="Aptos"/>
                <a:ea typeface="Aptos"/>
                <a:cs typeface="Aptos"/>
              </a:rPr>
              <a:t>Presentation purpose</a:t>
            </a:r>
          </a:p>
        </p:txBody>
      </p:sp>
      <p:sp>
        <p:nvSpPr>
          <p:cNvPr id="20" name="">
            <a:extLst xmlns:a="http://schemas.openxmlformats.org/drawingml/2006/main">
              <a:ext uri="{FF2B5EF4-FFF2-40B4-BE49-F238E27FC236}">
                <a16:creationId xmlns:a16="http://schemas.microsoft.com/office/drawing/2014/main" id="{3E8DA95B-63AB-4739-87AE-D5075C5D3C44}"/>
              </a:ext>
            </a:extLst>
          </p:cNvPr>
          <p:cNvSpPr>
            <a:spLocks xmlns:a="http://schemas.openxmlformats.org/drawingml/2006/main" noGrp="1"/>
          </p:cNvSpPr>
          <p:nvPr/>
        </p:nvSpPr>
        <p:spPr>
          <a:xfrm xmlns:a="http://schemas.openxmlformats.org/drawingml/2006/main">
            <a:off x="8096250" y="4552950"/>
            <a:ext cx="3143250" cy="9525"/>
          </a:xfrm>
          <a:prstGeom xmlns:a="http://schemas.openxmlformats.org/drawingml/2006/main" prst="rect">
            <a:avLst/>
          </a:prstGeom>
          <a:solidFill xmlns:a="http://schemas.openxmlformats.org/drawingml/2006/main">
            <a:srgbClr val="477065"/>
          </a:solidFill>
          <a:ln xmlns:a="http://schemas.openxmlformats.org/drawingml/2006/main" w="0">
            <a:solidFill>
              <a:srgbClr val="477065"/>
            </a:solidFill>
            <a:prstDash val="solid"/>
          </a:ln>
        </p:spPr>
      </p:sp>
      <p:sp>
        <p:nvSpPr>
          <p:cNvPr id="21" name="">
            <a:extLst xmlns:a="http://schemas.openxmlformats.org/drawingml/2006/main">
              <a:ext uri="{FF2B5EF4-FFF2-40B4-BE49-F238E27FC236}">
                <a16:creationId xmlns:a16="http://schemas.microsoft.com/office/drawing/2014/main" id="{75AED534-093B-485E-AE08-47DB1E35A954}"/>
              </a:ext>
            </a:extLst>
          </p:cNvPr>
          <p:cNvSpPr>
            <a:spLocks xmlns:a="http://schemas.openxmlformats.org/drawingml/2006/main" noGrp="1"/>
          </p:cNvSpPr>
          <p:nvPr/>
        </p:nvSpPr>
        <p:spPr>
          <a:xfrm xmlns:a="http://schemas.openxmlformats.org/drawingml/2006/main">
            <a:off x="8096250" y="3943350"/>
            <a:ext cx="31432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FFFFFF"/>
                </a:solidFill>
                <a:latin typeface="Aptos"/>
                <a:ea typeface="Aptos"/>
                <a:cs typeface="Aptos"/>
              </a:defRPr>
            </a:pPr>
            <a:r>
              <a:rPr sz="1650" b="1">
                <a:solidFill>
                  <a:srgbClr val="FFFFFF"/>
                </a:solidFill>
                <a:latin typeface="Aptos"/>
                <a:ea typeface="Aptos"/>
                <a:cs typeface="Aptos"/>
              </a:rPr>
              <a:t>No Live Investments</a:t>
            </a:r>
          </a:p>
        </p:txBody>
      </p:sp>
      <p:sp>
        <p:nvSpPr>
          <p:cNvPr id="22" name="">
            <a:extLst xmlns:a="http://schemas.openxmlformats.org/drawingml/2006/main">
              <a:ext uri="{FF2B5EF4-FFF2-40B4-BE49-F238E27FC236}">
                <a16:creationId xmlns:a16="http://schemas.microsoft.com/office/drawing/2014/main" id="{B07E07A8-99D8-4AB9-809C-83BF2A9019B5}"/>
              </a:ext>
            </a:extLst>
          </p:cNvPr>
          <p:cNvSpPr>
            <a:spLocks xmlns:a="http://schemas.openxmlformats.org/drawingml/2006/main" noGrp="1"/>
          </p:cNvSpPr>
          <p:nvPr/>
        </p:nvSpPr>
        <p:spPr>
          <a:xfrm xmlns:a="http://schemas.openxmlformats.org/drawingml/2006/main">
            <a:off x="8096250" y="4267200"/>
            <a:ext cx="3143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0">
                <a:solidFill>
                  <a:srgbClr val="BBD1C8"/>
                </a:solidFill>
                <a:latin typeface="Aptos"/>
                <a:ea typeface="Aptos"/>
                <a:cs typeface="Aptos"/>
              </a:defRPr>
            </a:pPr>
            <a:r>
              <a:rPr sz="900" b="0">
                <a:solidFill>
                  <a:srgbClr val="BBD1C8"/>
                </a:solidFill>
                <a:latin typeface="Aptos"/>
                <a:ea typeface="Aptos"/>
                <a:cs typeface="Aptos"/>
              </a:rPr>
              <a:t>Operating boundary</a:t>
            </a:r>
          </a:p>
        </p:txBody>
      </p:sp>
      <p:sp>
        <p:nvSpPr>
          <p:cNvPr id="23" name="">
            <a:extLst xmlns:a="http://schemas.openxmlformats.org/drawingml/2006/main">
              <a:ext uri="{FF2B5EF4-FFF2-40B4-BE49-F238E27FC236}">
                <a16:creationId xmlns:a16="http://schemas.microsoft.com/office/drawing/2014/main" id="{D30CDFAA-7BA0-4ACD-B62B-6B2826127FC2}"/>
              </a:ext>
            </a:extLst>
          </p:cNvPr>
          <p:cNvSpPr>
            <a:spLocks xmlns:a="http://schemas.openxmlformats.org/drawingml/2006/main" noGrp="1"/>
          </p:cNvSpPr>
          <p:nvPr/>
        </p:nvSpPr>
        <p:spPr>
          <a:xfrm xmlns:a="http://schemas.openxmlformats.org/drawingml/2006/main">
            <a:off x="533400" y="4895850"/>
            <a:ext cx="2857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2E7D5B"/>
                </a:solidFill>
                <a:latin typeface="Aptos"/>
                <a:ea typeface="Aptos"/>
                <a:cs typeface="Aptos"/>
              </a:defRPr>
            </a:pPr>
            <a:r>
              <a:rPr sz="900" b="1">
                <a:solidFill>
                  <a:srgbClr val="2E7D5B"/>
                </a:solidFill>
                <a:latin typeface="Aptos"/>
                <a:ea typeface="Aptos"/>
                <a:cs typeface="Aptos"/>
              </a:rPr>
              <a:t>TODAY'S PRESENTATION</a:t>
            </a:r>
          </a:p>
        </p:txBody>
      </p:sp>
      <p:sp>
        <p:nvSpPr>
          <p:cNvPr id="24" name="">
            <a:extLst xmlns:a="http://schemas.openxmlformats.org/drawingml/2006/main">
              <a:ext uri="{FF2B5EF4-FFF2-40B4-BE49-F238E27FC236}">
                <a16:creationId xmlns:a16="http://schemas.microsoft.com/office/drawing/2014/main" id="{25825AC0-C599-4862-8D4A-3A9FC9329183}"/>
              </a:ext>
            </a:extLst>
          </p:cNvPr>
          <p:cNvSpPr>
            <a:spLocks xmlns:a="http://schemas.openxmlformats.org/drawingml/2006/main" noGrp="1"/>
          </p:cNvSpPr>
          <p:nvPr/>
        </p:nvSpPr>
        <p:spPr>
          <a:xfrm xmlns:a="http://schemas.openxmlformats.org/drawingml/2006/main">
            <a:off x="533400" y="5314950"/>
            <a:ext cx="4000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2E7D5B"/>
                </a:solidFill>
                <a:latin typeface="Aptos"/>
                <a:ea typeface="Aptos"/>
                <a:cs typeface="Aptos"/>
              </a:defRPr>
            </a:pPr>
            <a:r>
              <a:rPr sz="900" b="1">
                <a:solidFill>
                  <a:srgbClr val="2E7D5B"/>
                </a:solidFill>
                <a:latin typeface="Aptos"/>
                <a:ea typeface="Aptos"/>
                <a:cs typeface="Aptos"/>
              </a:rPr>
              <a:t>01</a:t>
            </a:r>
          </a:p>
        </p:txBody>
      </p:sp>
      <p:sp>
        <p:nvSpPr>
          <p:cNvPr id="25" name="">
            <a:extLst xmlns:a="http://schemas.openxmlformats.org/drawingml/2006/main">
              <a:ext uri="{FF2B5EF4-FFF2-40B4-BE49-F238E27FC236}">
                <a16:creationId xmlns:a16="http://schemas.microsoft.com/office/drawing/2014/main" id="{4557EEBF-65A0-4256-8F10-9D32E48B43CD}"/>
              </a:ext>
            </a:extLst>
          </p:cNvPr>
          <p:cNvSpPr>
            <a:spLocks xmlns:a="http://schemas.openxmlformats.org/drawingml/2006/main" noGrp="1"/>
          </p:cNvSpPr>
          <p:nvPr/>
        </p:nvSpPr>
        <p:spPr>
          <a:xfrm xmlns:a="http://schemas.openxmlformats.org/drawingml/2006/main">
            <a:off x="933450" y="5257800"/>
            <a:ext cx="16764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75" b="1">
                <a:solidFill>
                  <a:srgbClr val="173F36"/>
                </a:solidFill>
                <a:latin typeface="Aptos"/>
                <a:ea typeface="Aptos"/>
                <a:cs typeface="Aptos"/>
              </a:defRPr>
            </a:pPr>
            <a:r>
              <a:rPr sz="1275" b="1">
                <a:solidFill>
                  <a:srgbClr val="173F36"/>
                </a:solidFill>
                <a:latin typeface="Aptos"/>
                <a:ea typeface="Aptos"/>
                <a:cs typeface="Aptos"/>
              </a:rPr>
              <a:t>The Problem</a:t>
            </a:r>
          </a:p>
        </p:txBody>
      </p:sp>
      <p:sp>
        <p:nvSpPr>
          <p:cNvPr id="26" name="">
            <a:extLst xmlns:a="http://schemas.openxmlformats.org/drawingml/2006/main">
              <a:ext uri="{FF2B5EF4-FFF2-40B4-BE49-F238E27FC236}">
                <a16:creationId xmlns:a16="http://schemas.microsoft.com/office/drawing/2014/main" id="{E8DF667E-BA90-48CE-98A7-06B4DC46FA39}"/>
              </a:ext>
            </a:extLst>
          </p:cNvPr>
          <p:cNvSpPr>
            <a:spLocks xmlns:a="http://schemas.openxmlformats.org/drawingml/2006/main" noGrp="1"/>
          </p:cNvSpPr>
          <p:nvPr/>
        </p:nvSpPr>
        <p:spPr>
          <a:xfrm xmlns:a="http://schemas.openxmlformats.org/drawingml/2006/main">
            <a:off x="533400" y="5791200"/>
            <a:ext cx="1962150" cy="19050"/>
          </a:xfrm>
          <a:prstGeom xmlns:a="http://schemas.openxmlformats.org/drawingml/2006/main" prst="rect">
            <a:avLst/>
          </a:prstGeom>
          <a:solidFill xmlns:a="http://schemas.openxmlformats.org/drawingml/2006/main">
            <a:srgbClr val="C8D6D0"/>
          </a:solidFill>
          <a:ln xmlns:a="http://schemas.openxmlformats.org/drawingml/2006/main" w="0">
            <a:solidFill>
              <a:srgbClr val="C8D6D0"/>
            </a:solidFill>
            <a:prstDash val="solid"/>
          </a:ln>
        </p:spPr>
      </p:sp>
      <p:sp>
        <p:nvSpPr>
          <p:cNvPr id="27" name="">
            <a:extLst xmlns:a="http://schemas.openxmlformats.org/drawingml/2006/main">
              <a:ext uri="{FF2B5EF4-FFF2-40B4-BE49-F238E27FC236}">
                <a16:creationId xmlns:a16="http://schemas.microsoft.com/office/drawing/2014/main" id="{49486BB3-F708-4BC4-8B4B-E476B2D82B18}"/>
              </a:ext>
            </a:extLst>
          </p:cNvPr>
          <p:cNvSpPr>
            <a:spLocks xmlns:a="http://schemas.openxmlformats.org/drawingml/2006/main" noGrp="1"/>
          </p:cNvSpPr>
          <p:nvPr/>
        </p:nvSpPr>
        <p:spPr>
          <a:xfrm xmlns:a="http://schemas.openxmlformats.org/drawingml/2006/main">
            <a:off x="2724150" y="5314950"/>
            <a:ext cx="4000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2E7D5B"/>
                </a:solidFill>
                <a:latin typeface="Aptos"/>
                <a:ea typeface="Aptos"/>
                <a:cs typeface="Aptos"/>
              </a:defRPr>
            </a:pPr>
            <a:r>
              <a:rPr sz="900" b="1">
                <a:solidFill>
                  <a:srgbClr val="2E7D5B"/>
                </a:solidFill>
                <a:latin typeface="Aptos"/>
                <a:ea typeface="Aptos"/>
                <a:cs typeface="Aptos"/>
              </a:rPr>
              <a:t>02</a:t>
            </a:r>
          </a:p>
        </p:txBody>
      </p:sp>
      <p:sp>
        <p:nvSpPr>
          <p:cNvPr id="28" name="">
            <a:extLst xmlns:a="http://schemas.openxmlformats.org/drawingml/2006/main">
              <a:ext uri="{FF2B5EF4-FFF2-40B4-BE49-F238E27FC236}">
                <a16:creationId xmlns:a16="http://schemas.microsoft.com/office/drawing/2014/main" id="{57BF3FCC-6CCC-4146-BA02-D023C400CBE8}"/>
              </a:ext>
            </a:extLst>
          </p:cNvPr>
          <p:cNvSpPr>
            <a:spLocks xmlns:a="http://schemas.openxmlformats.org/drawingml/2006/main" noGrp="1"/>
          </p:cNvSpPr>
          <p:nvPr/>
        </p:nvSpPr>
        <p:spPr>
          <a:xfrm xmlns:a="http://schemas.openxmlformats.org/drawingml/2006/main">
            <a:off x="3124200" y="5257800"/>
            <a:ext cx="16764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75" b="1">
                <a:solidFill>
                  <a:srgbClr val="173F36"/>
                </a:solidFill>
                <a:latin typeface="Aptos"/>
                <a:ea typeface="Aptos"/>
                <a:cs typeface="Aptos"/>
              </a:defRPr>
            </a:pPr>
            <a:r>
              <a:rPr sz="1275" b="1">
                <a:solidFill>
                  <a:srgbClr val="173F36"/>
                </a:solidFill>
                <a:latin typeface="Aptos"/>
                <a:ea typeface="Aptos"/>
                <a:cs typeface="Aptos"/>
              </a:rPr>
              <a:t>The Solution</a:t>
            </a:r>
          </a:p>
        </p:txBody>
      </p:sp>
      <p:sp>
        <p:nvSpPr>
          <p:cNvPr id="29" name="">
            <a:extLst xmlns:a="http://schemas.openxmlformats.org/drawingml/2006/main">
              <a:ext uri="{FF2B5EF4-FFF2-40B4-BE49-F238E27FC236}">
                <a16:creationId xmlns:a16="http://schemas.microsoft.com/office/drawing/2014/main" id="{75B67B41-8E26-4488-B87B-141A53C58F9D}"/>
              </a:ext>
            </a:extLst>
          </p:cNvPr>
          <p:cNvSpPr>
            <a:spLocks xmlns:a="http://schemas.openxmlformats.org/drawingml/2006/main" noGrp="1"/>
          </p:cNvSpPr>
          <p:nvPr/>
        </p:nvSpPr>
        <p:spPr>
          <a:xfrm xmlns:a="http://schemas.openxmlformats.org/drawingml/2006/main">
            <a:off x="2724150" y="5791200"/>
            <a:ext cx="1962150" cy="19050"/>
          </a:xfrm>
          <a:prstGeom xmlns:a="http://schemas.openxmlformats.org/drawingml/2006/main" prst="rect">
            <a:avLst/>
          </a:prstGeom>
          <a:solidFill xmlns:a="http://schemas.openxmlformats.org/drawingml/2006/main">
            <a:srgbClr val="C8D6D0"/>
          </a:solidFill>
          <a:ln xmlns:a="http://schemas.openxmlformats.org/drawingml/2006/main" w="0">
            <a:solidFill>
              <a:srgbClr val="C8D6D0"/>
            </a:solidFill>
            <a:prstDash val="solid"/>
          </a:ln>
        </p:spPr>
      </p:sp>
      <p:sp>
        <p:nvSpPr>
          <p:cNvPr id="30" name="">
            <a:extLst xmlns:a="http://schemas.openxmlformats.org/drawingml/2006/main">
              <a:ext uri="{FF2B5EF4-FFF2-40B4-BE49-F238E27FC236}">
                <a16:creationId xmlns:a16="http://schemas.microsoft.com/office/drawing/2014/main" id="{526068DE-9625-4023-B2C1-153B5A12E679}"/>
              </a:ext>
            </a:extLst>
          </p:cNvPr>
          <p:cNvSpPr>
            <a:spLocks xmlns:a="http://schemas.openxmlformats.org/drawingml/2006/main" noGrp="1"/>
          </p:cNvSpPr>
          <p:nvPr/>
        </p:nvSpPr>
        <p:spPr>
          <a:xfrm xmlns:a="http://schemas.openxmlformats.org/drawingml/2006/main">
            <a:off x="4914900" y="5314950"/>
            <a:ext cx="4000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2E7D5B"/>
                </a:solidFill>
                <a:latin typeface="Aptos"/>
                <a:ea typeface="Aptos"/>
                <a:cs typeface="Aptos"/>
              </a:defRPr>
            </a:pPr>
            <a:r>
              <a:rPr sz="900" b="1">
                <a:solidFill>
                  <a:srgbClr val="2E7D5B"/>
                </a:solidFill>
                <a:latin typeface="Aptos"/>
                <a:ea typeface="Aptos"/>
                <a:cs typeface="Aptos"/>
              </a:rPr>
              <a:t>03</a:t>
            </a:r>
          </a:p>
        </p:txBody>
      </p:sp>
      <p:sp>
        <p:nvSpPr>
          <p:cNvPr id="31" name="">
            <a:extLst xmlns:a="http://schemas.openxmlformats.org/drawingml/2006/main">
              <a:ext uri="{FF2B5EF4-FFF2-40B4-BE49-F238E27FC236}">
                <a16:creationId xmlns:a16="http://schemas.microsoft.com/office/drawing/2014/main" id="{DB31CF33-9EA8-48C3-91D0-8F33EE08184C}"/>
              </a:ext>
            </a:extLst>
          </p:cNvPr>
          <p:cNvSpPr>
            <a:spLocks xmlns:a="http://schemas.openxmlformats.org/drawingml/2006/main" noGrp="1"/>
          </p:cNvSpPr>
          <p:nvPr/>
        </p:nvSpPr>
        <p:spPr>
          <a:xfrm xmlns:a="http://schemas.openxmlformats.org/drawingml/2006/main">
            <a:off x="5314950" y="5257800"/>
            <a:ext cx="16764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75" b="1">
                <a:solidFill>
                  <a:srgbClr val="173F36"/>
                </a:solidFill>
                <a:latin typeface="Aptos"/>
                <a:ea typeface="Aptos"/>
                <a:cs typeface="Aptos"/>
              </a:defRPr>
            </a:pPr>
            <a:r>
              <a:rPr sz="1275" b="1">
                <a:solidFill>
                  <a:srgbClr val="173F36"/>
                </a:solidFill>
                <a:latin typeface="Aptos"/>
                <a:ea typeface="Aptos"/>
                <a:cs typeface="Aptos"/>
              </a:rPr>
              <a:t>Live Demonstration</a:t>
            </a:r>
          </a:p>
        </p:txBody>
      </p:sp>
      <p:sp>
        <p:nvSpPr>
          <p:cNvPr id="32" name="">
            <a:extLst xmlns:a="http://schemas.openxmlformats.org/drawingml/2006/main">
              <a:ext uri="{FF2B5EF4-FFF2-40B4-BE49-F238E27FC236}">
                <a16:creationId xmlns:a16="http://schemas.microsoft.com/office/drawing/2014/main" id="{084F1639-EF6E-405F-BAFD-94364A7D27E5}"/>
              </a:ext>
            </a:extLst>
          </p:cNvPr>
          <p:cNvSpPr>
            <a:spLocks xmlns:a="http://schemas.openxmlformats.org/drawingml/2006/main" noGrp="1"/>
          </p:cNvSpPr>
          <p:nvPr/>
        </p:nvSpPr>
        <p:spPr>
          <a:xfrm xmlns:a="http://schemas.openxmlformats.org/drawingml/2006/main">
            <a:off x="4914900" y="5791200"/>
            <a:ext cx="1962150" cy="19050"/>
          </a:xfrm>
          <a:prstGeom xmlns:a="http://schemas.openxmlformats.org/drawingml/2006/main" prst="rect">
            <a:avLst/>
          </a:prstGeom>
          <a:solidFill xmlns:a="http://schemas.openxmlformats.org/drawingml/2006/main">
            <a:srgbClr val="D5A43A"/>
          </a:solidFill>
          <a:ln xmlns:a="http://schemas.openxmlformats.org/drawingml/2006/main" w="0">
            <a:solidFill>
              <a:srgbClr val="C8D6D0"/>
            </a:solidFill>
            <a:prstDash val="solid"/>
          </a:ln>
        </p:spPr>
      </p:sp>
    </p:spTree>
    <p:extLst>
      <p:ext uri="{BB962C8B-B14F-4D97-AF65-F5344CB8AC3E}">
        <p14:creationId xmlns:p14="http://schemas.microsoft.com/office/powerpoint/2010/main" val="661804353"/>
      </p:ext>
    </p:extLst>
  </p:cSld>
</p:sld>
</file>

<file path=ppt/slides/slide2.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 name="top-rule">
            <a:extLst xmlns:a="http://schemas.openxmlformats.org/drawingml/2006/main">
              <a:ext uri="{FF2B5EF4-FFF2-40B4-BE49-F238E27FC236}">
                <a16:creationId xmlns:a16="http://schemas.microsoft.com/office/drawing/2014/main" id="{ED522466-E418-413D-960B-0348EA90A39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2E7D5B"/>
          </a:solidFill>
          <a:ln xmlns:a="http://schemas.openxmlformats.org/drawingml/2006/main" w="0">
            <a:solidFill>
              <a:srgbClr val="2E7D5B"/>
            </a:solidFill>
            <a:prstDash val="solid"/>
          </a:ln>
        </p:spPr>
      </p:sp>
      <p:sp>
        <p:nvSpPr>
          <p:cNvPr id="2" name="kicker-marker">
            <a:extLst xmlns:a="http://schemas.openxmlformats.org/drawingml/2006/main">
              <a:ext uri="{FF2B5EF4-FFF2-40B4-BE49-F238E27FC236}">
                <a16:creationId xmlns:a16="http://schemas.microsoft.com/office/drawing/2014/main" id="{C53362C7-93EB-4981-984E-6B1248FDF5FE}"/>
              </a:ext>
            </a:extLst>
          </p:cNvPr>
          <p:cNvSpPr>
            <a:spLocks xmlns:a="http://schemas.openxmlformats.org/drawingml/2006/main" noGrp="1"/>
          </p:cNvSpPr>
          <p:nvPr/>
        </p:nvSpPr>
        <p:spPr>
          <a:xfrm xmlns:a="http://schemas.openxmlformats.org/drawingml/2006/main">
            <a:off x="457200" y="304800"/>
            <a:ext cx="285750" cy="19050"/>
          </a:xfrm>
          <a:prstGeom xmlns:a="http://schemas.openxmlformats.org/drawingml/2006/main" prst="rect">
            <a:avLst/>
          </a:prstGeom>
          <a:solidFill xmlns:a="http://schemas.openxmlformats.org/drawingml/2006/main">
            <a:srgbClr val="2E7D5B"/>
          </a:solidFill>
          <a:ln xmlns:a="http://schemas.openxmlformats.org/drawingml/2006/main" w="0">
            <a:solidFill>
              <a:srgbClr val="2E7D5B"/>
            </a:solidFill>
            <a:prstDash val="solid"/>
          </a:ln>
        </p:spPr>
      </p:sp>
      <p:sp>
        <p:nvSpPr>
          <p:cNvPr id="3" name="kicker-label">
            <a:extLst xmlns:a="http://schemas.openxmlformats.org/drawingml/2006/main">
              <a:ext uri="{FF2B5EF4-FFF2-40B4-BE49-F238E27FC236}">
                <a16:creationId xmlns:a16="http://schemas.microsoft.com/office/drawing/2014/main" id="{334DB993-9DC3-47ED-87BD-EE2CA5A53F30}"/>
              </a:ext>
            </a:extLst>
          </p:cNvPr>
          <p:cNvSpPr>
            <a:spLocks xmlns:a="http://schemas.openxmlformats.org/drawingml/2006/main" noGrp="1"/>
          </p:cNvSpPr>
          <p:nvPr/>
        </p:nvSpPr>
        <p:spPr>
          <a:xfrm xmlns:a="http://schemas.openxmlformats.org/drawingml/2006/main">
            <a:off x="838200" y="190500"/>
            <a:ext cx="4095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2E7D5B"/>
                </a:solidFill>
                <a:latin typeface="Aptos"/>
                <a:ea typeface="Aptos"/>
                <a:cs typeface="Aptos"/>
              </a:defRPr>
            </a:pPr>
            <a:r>
              <a:rPr sz="900" b="1">
                <a:solidFill>
                  <a:srgbClr val="2E7D5B"/>
                </a:solidFill>
                <a:latin typeface="Aptos"/>
                <a:ea typeface="Aptos"/>
                <a:cs typeface="Aptos"/>
              </a:rPr>
              <a:t>THE PROBLEM</a:t>
            </a:r>
          </a:p>
        </p:txBody>
      </p:sp>
      <p:sp>
        <p:nvSpPr>
          <p:cNvPr id="4" name="">
            <a:extLst xmlns:a="http://schemas.openxmlformats.org/drawingml/2006/main">
              <a:ext uri="{FF2B5EF4-FFF2-40B4-BE49-F238E27FC236}">
                <a16:creationId xmlns:a16="http://schemas.microsoft.com/office/drawing/2014/main" id="{ECA347F2-BB6B-4476-9D9B-730252C69922}"/>
              </a:ext>
            </a:extLst>
          </p:cNvPr>
          <p:cNvSpPr>
            <a:spLocks xmlns:a="http://schemas.openxmlformats.org/drawingml/2006/main" noGrp="1"/>
          </p:cNvSpPr>
          <p:nvPr/>
        </p:nvSpPr>
        <p:spPr>
          <a:xfrm xmlns:a="http://schemas.openxmlformats.org/drawingml/2006/main">
            <a:off x="457200" y="6505575"/>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0">
                <a:solidFill>
                  <a:srgbClr val="65736F"/>
                </a:solidFill>
                <a:latin typeface="Aptos"/>
                <a:ea typeface="Aptos"/>
                <a:cs typeface="Aptos"/>
              </a:defRPr>
            </a:pPr>
            <a:r>
              <a:rPr sz="750" b="0">
                <a:solidFill>
                  <a:srgbClr val="65736F"/>
                </a:solidFill>
                <a:latin typeface="Aptos"/>
                <a:ea typeface="Aptos"/>
                <a:cs typeface="Aptos"/>
              </a:rPr>
              <a:t>AgriPartners  •  Investor Pitch Deck v1.0</a:t>
            </a:r>
          </a:p>
        </p:txBody>
      </p:sp>
      <p:sp>
        <p:nvSpPr>
          <p:cNvPr id="5" name="">
            <a:extLst xmlns:a="http://schemas.openxmlformats.org/drawingml/2006/main">
              <a:ext uri="{FF2B5EF4-FFF2-40B4-BE49-F238E27FC236}">
                <a16:creationId xmlns:a16="http://schemas.microsoft.com/office/drawing/2014/main" id="{923036B8-11E7-44D5-95EE-DE0582470DF4}"/>
              </a:ext>
            </a:extLst>
          </p:cNvPr>
          <p:cNvSpPr>
            <a:spLocks xmlns:a="http://schemas.openxmlformats.org/drawingml/2006/main" noGrp="1"/>
          </p:cNvSpPr>
          <p:nvPr/>
        </p:nvSpPr>
        <p:spPr>
          <a:xfrm xmlns:a="http://schemas.openxmlformats.org/drawingml/2006/main">
            <a:off x="11239500" y="6505575"/>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r">
              <a:defRPr sz="750" b="0">
                <a:solidFill>
                  <a:srgbClr val="65736F"/>
                </a:solidFill>
                <a:latin typeface="Aptos"/>
                <a:ea typeface="Aptos"/>
                <a:cs typeface="Aptos"/>
              </a:defRPr>
            </a:pPr>
            <a:r>
              <a:rPr sz="750" b="0">
                <a:solidFill>
                  <a:srgbClr val="65736F"/>
                </a:solidFill>
                <a:latin typeface="Aptos"/>
                <a:ea typeface="Aptos"/>
                <a:cs typeface="Aptos"/>
              </a:rPr>
              <a:t>02</a:t>
            </a:r>
          </a:p>
        </p:txBody>
      </p:sp>
      <p:sp>
        <p:nvSpPr>
          <p:cNvPr id="6" name="">
            <a:extLst xmlns:a="http://schemas.openxmlformats.org/drawingml/2006/main">
              <a:ext uri="{FF2B5EF4-FFF2-40B4-BE49-F238E27FC236}">
                <a16:creationId xmlns:a16="http://schemas.microsoft.com/office/drawing/2014/main" id="{82248082-FB10-4CFC-A7A0-EE6E664668BC}"/>
              </a:ext>
            </a:extLst>
          </p:cNvPr>
          <p:cNvSpPr>
            <a:spLocks xmlns:a="http://schemas.openxmlformats.org/drawingml/2006/main" noGrp="1"/>
          </p:cNvSpPr>
          <p:nvPr/>
        </p:nvSpPr>
        <p:spPr>
          <a:xfrm xmlns:a="http://schemas.openxmlformats.org/drawingml/2006/main">
            <a:off x="457200" y="666750"/>
            <a:ext cx="10668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73F36"/>
                </a:solidFill>
                <a:latin typeface="Aptos"/>
                <a:ea typeface="Aptos"/>
                <a:cs typeface="Aptos"/>
              </a:defRPr>
            </a:pPr>
            <a:r>
              <a:rPr sz="3150" b="1">
                <a:solidFill>
                  <a:srgbClr val="173F36"/>
                </a:solidFill>
                <a:latin typeface="Aptos"/>
                <a:ea typeface="Aptos"/>
                <a:cs typeface="Aptos"/>
              </a:rPr>
              <a:t>Agricultural Investments Need Greater Transparency</a:t>
            </a:r>
          </a:p>
        </p:txBody>
      </p:sp>
      <p:sp>
        <p:nvSpPr>
          <p:cNvPr id="7" name="">
            <a:extLst xmlns:a="http://schemas.openxmlformats.org/drawingml/2006/main">
              <a:ext uri="{FF2B5EF4-FFF2-40B4-BE49-F238E27FC236}">
                <a16:creationId xmlns:a16="http://schemas.microsoft.com/office/drawing/2014/main" id="{67FD69FD-0F54-4989-8901-C94E60432768}"/>
              </a:ext>
            </a:extLst>
          </p:cNvPr>
          <p:cNvSpPr>
            <a:spLocks xmlns:a="http://schemas.openxmlformats.org/drawingml/2006/main" noGrp="1"/>
          </p:cNvSpPr>
          <p:nvPr/>
        </p:nvSpPr>
        <p:spPr>
          <a:xfrm xmlns:a="http://schemas.openxmlformats.org/drawingml/2006/main">
            <a:off x="514350" y="1504950"/>
            <a:ext cx="4000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2E7D5B"/>
                </a:solidFill>
                <a:latin typeface="Aptos"/>
                <a:ea typeface="Aptos"/>
                <a:cs typeface="Aptos"/>
              </a:defRPr>
            </a:pPr>
            <a:r>
              <a:rPr sz="900" b="1">
                <a:solidFill>
                  <a:srgbClr val="2E7D5B"/>
                </a:solidFill>
                <a:latin typeface="Aptos"/>
                <a:ea typeface="Aptos"/>
                <a:cs typeface="Aptos"/>
              </a:rPr>
              <a:t>INVESTMENT LIFECYCLE</a:t>
            </a:r>
          </a:p>
        </p:txBody>
      </p:sp>
      <p:sp>
        <p:nvSpPr>
          <p:cNvPr id="8" name="">
            <a:extLst xmlns:a="http://schemas.openxmlformats.org/drawingml/2006/main">
              <a:ext uri="{FF2B5EF4-FFF2-40B4-BE49-F238E27FC236}">
                <a16:creationId xmlns:a16="http://schemas.microsoft.com/office/drawing/2014/main" id="{60DAE82C-C228-4CE0-8844-077157FCF3AC}"/>
              </a:ext>
            </a:extLst>
          </p:cNvPr>
          <p:cNvSpPr>
            <a:spLocks xmlns:a="http://schemas.openxmlformats.org/drawingml/2006/main" noGrp="1"/>
          </p:cNvSpPr>
          <p:nvPr/>
        </p:nvSpPr>
        <p:spPr>
          <a:xfrm xmlns:a="http://schemas.openxmlformats.org/drawingml/2006/main">
            <a:off x="6343650" y="1504950"/>
            <a:ext cx="4000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D5A43A"/>
                </a:solidFill>
                <a:latin typeface="Aptos"/>
                <a:ea typeface="Aptos"/>
                <a:cs typeface="Aptos"/>
              </a:defRPr>
            </a:pPr>
            <a:r>
              <a:rPr sz="900" b="1">
                <a:solidFill>
                  <a:srgbClr val="D5A43A"/>
                </a:solidFill>
                <a:latin typeface="Aptos"/>
                <a:ea typeface="Aptos"/>
                <a:cs typeface="Aptos"/>
              </a:rPr>
              <a:t>COMMON CHALLENGES</a:t>
            </a:r>
          </a:p>
        </p:txBody>
      </p:sp>
      <p:sp>
        <p:nvSpPr>
          <p:cNvPr id="9" name="">
            <a:extLst xmlns:a="http://schemas.openxmlformats.org/drawingml/2006/main">
              <a:ext uri="{FF2B5EF4-FFF2-40B4-BE49-F238E27FC236}">
                <a16:creationId xmlns:a16="http://schemas.microsoft.com/office/drawing/2014/main" id="{F04D5096-DCA3-404A-8AE0-15A34CDB5659}"/>
              </a:ext>
            </a:extLst>
          </p:cNvPr>
          <p:cNvSpPr>
            <a:spLocks xmlns:a="http://schemas.openxmlformats.org/drawingml/2006/main" noGrp="1"/>
          </p:cNvSpPr>
          <p:nvPr/>
        </p:nvSpPr>
        <p:spPr>
          <a:xfrm xmlns:a="http://schemas.openxmlformats.org/drawingml/2006/main">
            <a:off x="5715000" y="1466850"/>
            <a:ext cx="9525" cy="3371850"/>
          </a:xfrm>
          <a:prstGeom xmlns:a="http://schemas.openxmlformats.org/drawingml/2006/main" prst="rect">
            <a:avLst/>
          </a:prstGeom>
          <a:solidFill xmlns:a="http://schemas.openxmlformats.org/drawingml/2006/main">
            <a:srgbClr val="C8D6D0"/>
          </a:solidFill>
          <a:ln xmlns:a="http://schemas.openxmlformats.org/drawingml/2006/main" w="0">
            <a:solidFill>
              <a:srgbClr val="C8D6D0"/>
            </a:solidFill>
            <a:prstDash val="solid"/>
          </a:ln>
        </p:spPr>
      </p:sp>
      <p:sp>
        <p:nvSpPr>
          <p:cNvPr id="10" name="">
            <a:extLst xmlns:a="http://schemas.openxmlformats.org/drawingml/2006/main">
              <a:ext uri="{FF2B5EF4-FFF2-40B4-BE49-F238E27FC236}">
                <a16:creationId xmlns:a16="http://schemas.microsoft.com/office/drawing/2014/main" id="{5AF8A91F-A5C6-4F96-BFFE-4E5AE326836B}"/>
              </a:ext>
            </a:extLst>
          </p:cNvPr>
          <p:cNvSpPr>
            <a:spLocks xmlns:a="http://schemas.openxmlformats.org/drawingml/2006/main" noGrp="1"/>
          </p:cNvSpPr>
          <p:nvPr/>
        </p:nvSpPr>
        <p:spPr>
          <a:xfrm xmlns:a="http://schemas.openxmlformats.org/drawingml/2006/main">
            <a:off x="666750" y="1924050"/>
            <a:ext cx="3524250" cy="361950"/>
          </a:xfrm>
          <a:prstGeom xmlns:a="http://schemas.openxmlformats.org/drawingml/2006/main" prst="rect">
            <a:avLst/>
          </a:prstGeom>
          <a:solidFill xmlns:a="http://schemas.openxmlformats.org/drawingml/2006/main">
            <a:srgbClr val="EAF3EE"/>
          </a:solidFill>
          <a:ln xmlns:a="http://schemas.openxmlformats.org/drawingml/2006/main" w="9525">
            <a:solidFill>
              <a:srgbClr val="C8D6D0"/>
            </a:solidFill>
            <a:prstDash val="solid"/>
          </a:ln>
        </p:spPr>
        <p:txBody>
          <a:bodyPr xmlns:a="http://schemas.openxmlformats.org/drawingml/2006/main" lIns="171450" tIns="57150" rIns="95250" bIns="57150" anchor="ctr"/>
          <a:lstStyle xmlns:a="http://schemas.openxmlformats.org/drawingml/2006/main"/>
          <a:p xmlns:a="http://schemas.openxmlformats.org/drawingml/2006/main">
            <a:pPr algn="l">
              <a:defRPr sz="1350" b="1">
                <a:solidFill>
                  <a:srgbClr val="173F36"/>
                </a:solidFill>
                <a:latin typeface="Aptos"/>
                <a:ea typeface="Aptos"/>
                <a:cs typeface="Aptos"/>
              </a:defRPr>
            </a:pPr>
            <a:r>
              <a:rPr sz="1350" b="1">
                <a:solidFill>
                  <a:srgbClr val="173F36"/>
                </a:solidFill>
                <a:latin typeface="Aptos"/>
                <a:ea typeface="Aptos"/>
                <a:cs typeface="Aptos"/>
              </a:rPr>
              <a:t>Project Selection</a:t>
            </a:r>
          </a:p>
        </p:txBody>
      </p:sp>
      <p:sp>
        <p:nvSpPr>
          <p:cNvPr id="11" name="">
            <a:extLst xmlns:a="http://schemas.openxmlformats.org/drawingml/2006/main">
              <a:ext uri="{FF2B5EF4-FFF2-40B4-BE49-F238E27FC236}">
                <a16:creationId xmlns:a16="http://schemas.microsoft.com/office/drawing/2014/main" id="{67C87DC4-339B-42C6-875E-C3E80BF9B0D7}"/>
              </a:ext>
            </a:extLst>
          </p:cNvPr>
          <p:cNvSpPr>
            <a:spLocks xmlns:a="http://schemas.openxmlformats.org/drawingml/2006/main" noGrp="1"/>
          </p:cNvSpPr>
          <p:nvPr/>
        </p:nvSpPr>
        <p:spPr>
          <a:xfrm xmlns:a="http://schemas.openxmlformats.org/drawingml/2006/main">
            <a:off x="4381500" y="1924050"/>
            <a:ext cx="4953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2E7D5B"/>
                </a:solidFill>
                <a:latin typeface="Aptos"/>
                <a:ea typeface="Aptos"/>
                <a:cs typeface="Aptos"/>
              </a:defRPr>
            </a:pPr>
            <a:r>
              <a:rPr sz="900" b="1">
                <a:solidFill>
                  <a:srgbClr val="2E7D5B"/>
                </a:solidFill>
                <a:latin typeface="Aptos"/>
                <a:ea typeface="Aptos"/>
                <a:cs typeface="Aptos"/>
              </a:rPr>
              <a:t>01</a:t>
            </a:r>
          </a:p>
        </p:txBody>
      </p:sp>
      <p:sp>
        <p:nvSpPr>
          <p:cNvPr id="12" name="">
            <a:extLst xmlns:a="http://schemas.openxmlformats.org/drawingml/2006/main">
              <a:ext uri="{FF2B5EF4-FFF2-40B4-BE49-F238E27FC236}">
                <a16:creationId xmlns:a16="http://schemas.microsoft.com/office/drawing/2014/main" id="{83B61632-4A97-4785-8F47-7DB95ED51D6A}"/>
              </a:ext>
            </a:extLst>
          </p:cNvPr>
          <p:cNvSpPr>
            <a:spLocks xmlns:a="http://schemas.openxmlformats.org/drawingml/2006/main" noGrp="1"/>
          </p:cNvSpPr>
          <p:nvPr/>
        </p:nvSpPr>
        <p:spPr>
          <a:xfrm xmlns:a="http://schemas.openxmlformats.org/drawingml/2006/main">
            <a:off x="2362200" y="2286000"/>
            <a:ext cx="114300" cy="95250"/>
          </a:xfrm>
          <a:prstGeom xmlns:a="http://schemas.openxmlformats.org/drawingml/2006/main" prst="downArrow">
            <a:avLst/>
          </a:prstGeom>
          <a:solidFill xmlns:a="http://schemas.openxmlformats.org/drawingml/2006/main">
            <a:srgbClr val="2E7D5B"/>
          </a:solidFill>
          <a:ln xmlns:a="http://schemas.openxmlformats.org/drawingml/2006/main" w="0">
            <a:solidFill>
              <a:srgbClr val="2E7D5B"/>
            </a:solidFill>
            <a:prstDash val="solid"/>
          </a:ln>
        </p:spPr>
      </p:sp>
      <p:sp>
        <p:nvSpPr>
          <p:cNvPr id="13" name="">
            <a:extLst xmlns:a="http://schemas.openxmlformats.org/drawingml/2006/main">
              <a:ext uri="{FF2B5EF4-FFF2-40B4-BE49-F238E27FC236}">
                <a16:creationId xmlns:a16="http://schemas.microsoft.com/office/drawing/2014/main" id="{A17575BB-60F5-46E4-BAFB-A26F1C5842A7}"/>
              </a:ext>
            </a:extLst>
          </p:cNvPr>
          <p:cNvSpPr>
            <a:spLocks xmlns:a="http://schemas.openxmlformats.org/drawingml/2006/main" noGrp="1"/>
          </p:cNvSpPr>
          <p:nvPr/>
        </p:nvSpPr>
        <p:spPr>
          <a:xfrm xmlns:a="http://schemas.openxmlformats.org/drawingml/2006/main">
            <a:off x="666750" y="2390775"/>
            <a:ext cx="3524250" cy="361950"/>
          </a:xfrm>
          <a:prstGeom xmlns:a="http://schemas.openxmlformats.org/drawingml/2006/main" prst="rect">
            <a:avLst/>
          </a:prstGeom>
          <a:solidFill xmlns:a="http://schemas.openxmlformats.org/drawingml/2006/main">
            <a:srgbClr val="E8F0F5"/>
          </a:solidFill>
          <a:ln xmlns:a="http://schemas.openxmlformats.org/drawingml/2006/main" w="9525">
            <a:solidFill>
              <a:srgbClr val="C8D6D0"/>
            </a:solidFill>
            <a:prstDash val="solid"/>
          </a:ln>
        </p:spPr>
        <p:txBody>
          <a:bodyPr xmlns:a="http://schemas.openxmlformats.org/drawingml/2006/main" lIns="171450" tIns="57150" rIns="95250" bIns="57150" anchor="ctr"/>
          <a:lstStyle xmlns:a="http://schemas.openxmlformats.org/drawingml/2006/main"/>
          <a:p xmlns:a="http://schemas.openxmlformats.org/drawingml/2006/main">
            <a:pPr algn="l">
              <a:defRPr sz="1350" b="0">
                <a:solidFill>
                  <a:srgbClr val="173F36"/>
                </a:solidFill>
                <a:latin typeface="Aptos"/>
                <a:ea typeface="Aptos"/>
                <a:cs typeface="Aptos"/>
              </a:defRPr>
            </a:pPr>
            <a:r>
              <a:rPr sz="1350" b="0">
                <a:solidFill>
                  <a:srgbClr val="173F36"/>
                </a:solidFill>
                <a:latin typeface="Aptos"/>
                <a:ea typeface="Aptos"/>
                <a:cs typeface="Aptos"/>
              </a:rPr>
              <a:t>Funding</a:t>
            </a:r>
          </a:p>
        </p:txBody>
      </p:sp>
      <p:sp>
        <p:nvSpPr>
          <p:cNvPr id="14" name="">
            <a:extLst xmlns:a="http://schemas.openxmlformats.org/drawingml/2006/main">
              <a:ext uri="{FF2B5EF4-FFF2-40B4-BE49-F238E27FC236}">
                <a16:creationId xmlns:a16="http://schemas.microsoft.com/office/drawing/2014/main" id="{F85CD867-9543-422D-A07D-9208DB2465FB}"/>
              </a:ext>
            </a:extLst>
          </p:cNvPr>
          <p:cNvSpPr>
            <a:spLocks xmlns:a="http://schemas.openxmlformats.org/drawingml/2006/main" noGrp="1"/>
          </p:cNvSpPr>
          <p:nvPr/>
        </p:nvSpPr>
        <p:spPr>
          <a:xfrm xmlns:a="http://schemas.openxmlformats.org/drawingml/2006/main">
            <a:off x="4381500" y="2390775"/>
            <a:ext cx="4953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2E7D5B"/>
                </a:solidFill>
                <a:latin typeface="Aptos"/>
                <a:ea typeface="Aptos"/>
                <a:cs typeface="Aptos"/>
              </a:defRPr>
            </a:pPr>
            <a:r>
              <a:rPr sz="900" b="1">
                <a:solidFill>
                  <a:srgbClr val="2E7D5B"/>
                </a:solidFill>
                <a:latin typeface="Aptos"/>
                <a:ea typeface="Aptos"/>
                <a:cs typeface="Aptos"/>
              </a:rPr>
              <a:t>02</a:t>
            </a:r>
          </a:p>
        </p:txBody>
      </p:sp>
      <p:sp>
        <p:nvSpPr>
          <p:cNvPr id="15" name="">
            <a:extLst xmlns:a="http://schemas.openxmlformats.org/drawingml/2006/main">
              <a:ext uri="{FF2B5EF4-FFF2-40B4-BE49-F238E27FC236}">
                <a16:creationId xmlns:a16="http://schemas.microsoft.com/office/drawing/2014/main" id="{B8CF1C76-C232-42DD-AD4D-9C8C4A34649B}"/>
              </a:ext>
            </a:extLst>
          </p:cNvPr>
          <p:cNvSpPr>
            <a:spLocks xmlns:a="http://schemas.openxmlformats.org/drawingml/2006/main" noGrp="1"/>
          </p:cNvSpPr>
          <p:nvPr/>
        </p:nvSpPr>
        <p:spPr>
          <a:xfrm xmlns:a="http://schemas.openxmlformats.org/drawingml/2006/main">
            <a:off x="2362200" y="2752725"/>
            <a:ext cx="114300" cy="95250"/>
          </a:xfrm>
          <a:prstGeom xmlns:a="http://schemas.openxmlformats.org/drawingml/2006/main" prst="downArrow">
            <a:avLst/>
          </a:prstGeom>
          <a:solidFill xmlns:a="http://schemas.openxmlformats.org/drawingml/2006/main">
            <a:srgbClr val="2E7D5B"/>
          </a:solidFill>
          <a:ln xmlns:a="http://schemas.openxmlformats.org/drawingml/2006/main" w="0">
            <a:solidFill>
              <a:srgbClr val="2E7D5B"/>
            </a:solidFill>
            <a:prstDash val="solid"/>
          </a:ln>
        </p:spPr>
      </p:sp>
      <p:sp>
        <p:nvSpPr>
          <p:cNvPr id="16" name="">
            <a:extLst xmlns:a="http://schemas.openxmlformats.org/drawingml/2006/main">
              <a:ext uri="{FF2B5EF4-FFF2-40B4-BE49-F238E27FC236}">
                <a16:creationId xmlns:a16="http://schemas.microsoft.com/office/drawing/2014/main" id="{42C6FFD0-1285-4E35-8B3C-535BA3AD45BE}"/>
              </a:ext>
            </a:extLst>
          </p:cNvPr>
          <p:cNvSpPr>
            <a:spLocks xmlns:a="http://schemas.openxmlformats.org/drawingml/2006/main" noGrp="1"/>
          </p:cNvSpPr>
          <p:nvPr/>
        </p:nvSpPr>
        <p:spPr>
          <a:xfrm xmlns:a="http://schemas.openxmlformats.org/drawingml/2006/main">
            <a:off x="666750" y="2857500"/>
            <a:ext cx="3524250" cy="361950"/>
          </a:xfrm>
          <a:prstGeom xmlns:a="http://schemas.openxmlformats.org/drawingml/2006/main" prst="rect">
            <a:avLst/>
          </a:prstGeom>
          <a:solidFill xmlns:a="http://schemas.openxmlformats.org/drawingml/2006/main">
            <a:srgbClr val="EAF3EE"/>
          </a:solidFill>
          <a:ln xmlns:a="http://schemas.openxmlformats.org/drawingml/2006/main" w="9525">
            <a:solidFill>
              <a:srgbClr val="C8D6D0"/>
            </a:solidFill>
            <a:prstDash val="solid"/>
          </a:ln>
        </p:spPr>
        <p:txBody>
          <a:bodyPr xmlns:a="http://schemas.openxmlformats.org/drawingml/2006/main" lIns="171450" tIns="57150" rIns="95250" bIns="57150" anchor="ctr"/>
          <a:lstStyle xmlns:a="http://schemas.openxmlformats.org/drawingml/2006/main"/>
          <a:p xmlns:a="http://schemas.openxmlformats.org/drawingml/2006/main">
            <a:pPr algn="l">
              <a:defRPr sz="1350" b="0">
                <a:solidFill>
                  <a:srgbClr val="173F36"/>
                </a:solidFill>
                <a:latin typeface="Aptos"/>
                <a:ea typeface="Aptos"/>
                <a:cs typeface="Aptos"/>
              </a:defRPr>
            </a:pPr>
            <a:r>
              <a:rPr sz="1350" b="0">
                <a:solidFill>
                  <a:srgbClr val="173F36"/>
                </a:solidFill>
                <a:latin typeface="Aptos"/>
                <a:ea typeface="Aptos"/>
                <a:cs typeface="Aptos"/>
              </a:rPr>
              <a:t>Production</a:t>
            </a:r>
          </a:p>
        </p:txBody>
      </p:sp>
      <p:sp>
        <p:nvSpPr>
          <p:cNvPr id="17" name="">
            <a:extLst xmlns:a="http://schemas.openxmlformats.org/drawingml/2006/main">
              <a:ext uri="{FF2B5EF4-FFF2-40B4-BE49-F238E27FC236}">
                <a16:creationId xmlns:a16="http://schemas.microsoft.com/office/drawing/2014/main" id="{AADCFDF4-3F99-4386-B412-D651444B76EB}"/>
              </a:ext>
            </a:extLst>
          </p:cNvPr>
          <p:cNvSpPr>
            <a:spLocks xmlns:a="http://schemas.openxmlformats.org/drawingml/2006/main" noGrp="1"/>
          </p:cNvSpPr>
          <p:nvPr/>
        </p:nvSpPr>
        <p:spPr>
          <a:xfrm xmlns:a="http://schemas.openxmlformats.org/drawingml/2006/main">
            <a:off x="4381500" y="2857500"/>
            <a:ext cx="4953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2E7D5B"/>
                </a:solidFill>
                <a:latin typeface="Aptos"/>
                <a:ea typeface="Aptos"/>
                <a:cs typeface="Aptos"/>
              </a:defRPr>
            </a:pPr>
            <a:r>
              <a:rPr sz="900" b="1">
                <a:solidFill>
                  <a:srgbClr val="2E7D5B"/>
                </a:solidFill>
                <a:latin typeface="Aptos"/>
                <a:ea typeface="Aptos"/>
                <a:cs typeface="Aptos"/>
              </a:rPr>
              <a:t>03</a:t>
            </a:r>
          </a:p>
        </p:txBody>
      </p:sp>
      <p:sp>
        <p:nvSpPr>
          <p:cNvPr id="18" name="">
            <a:extLst xmlns:a="http://schemas.openxmlformats.org/drawingml/2006/main">
              <a:ext uri="{FF2B5EF4-FFF2-40B4-BE49-F238E27FC236}">
                <a16:creationId xmlns:a16="http://schemas.microsoft.com/office/drawing/2014/main" id="{A5B75920-9BE9-4FC9-97C6-DD7F9F6BEA6A}"/>
              </a:ext>
            </a:extLst>
          </p:cNvPr>
          <p:cNvSpPr>
            <a:spLocks xmlns:a="http://schemas.openxmlformats.org/drawingml/2006/main" noGrp="1"/>
          </p:cNvSpPr>
          <p:nvPr/>
        </p:nvSpPr>
        <p:spPr>
          <a:xfrm xmlns:a="http://schemas.openxmlformats.org/drawingml/2006/main">
            <a:off x="2362200" y="3219450"/>
            <a:ext cx="114300" cy="95250"/>
          </a:xfrm>
          <a:prstGeom xmlns:a="http://schemas.openxmlformats.org/drawingml/2006/main" prst="downArrow">
            <a:avLst/>
          </a:prstGeom>
          <a:solidFill xmlns:a="http://schemas.openxmlformats.org/drawingml/2006/main">
            <a:srgbClr val="2E7D5B"/>
          </a:solidFill>
          <a:ln xmlns:a="http://schemas.openxmlformats.org/drawingml/2006/main" w="0">
            <a:solidFill>
              <a:srgbClr val="2E7D5B"/>
            </a:solidFill>
            <a:prstDash val="solid"/>
          </a:ln>
        </p:spPr>
      </p:sp>
      <p:sp>
        <p:nvSpPr>
          <p:cNvPr id="19" name="">
            <a:extLst xmlns:a="http://schemas.openxmlformats.org/drawingml/2006/main">
              <a:ext uri="{FF2B5EF4-FFF2-40B4-BE49-F238E27FC236}">
                <a16:creationId xmlns:a16="http://schemas.microsoft.com/office/drawing/2014/main" id="{9ECC2D4E-D694-4D17-8C88-629F306B85E7}"/>
              </a:ext>
            </a:extLst>
          </p:cNvPr>
          <p:cNvSpPr>
            <a:spLocks xmlns:a="http://schemas.openxmlformats.org/drawingml/2006/main" noGrp="1"/>
          </p:cNvSpPr>
          <p:nvPr/>
        </p:nvSpPr>
        <p:spPr>
          <a:xfrm xmlns:a="http://schemas.openxmlformats.org/drawingml/2006/main">
            <a:off x="666750" y="3324225"/>
            <a:ext cx="3524250" cy="361950"/>
          </a:xfrm>
          <a:prstGeom xmlns:a="http://schemas.openxmlformats.org/drawingml/2006/main" prst="rect">
            <a:avLst/>
          </a:prstGeom>
          <a:solidFill xmlns:a="http://schemas.openxmlformats.org/drawingml/2006/main">
            <a:srgbClr val="E8F0F5"/>
          </a:solidFill>
          <a:ln xmlns:a="http://schemas.openxmlformats.org/drawingml/2006/main" w="9525">
            <a:solidFill>
              <a:srgbClr val="C8D6D0"/>
            </a:solidFill>
            <a:prstDash val="solid"/>
          </a:ln>
        </p:spPr>
        <p:txBody>
          <a:bodyPr xmlns:a="http://schemas.openxmlformats.org/drawingml/2006/main" lIns="171450" tIns="57150" rIns="95250" bIns="57150" anchor="ctr"/>
          <a:lstStyle xmlns:a="http://schemas.openxmlformats.org/drawingml/2006/main"/>
          <a:p xmlns:a="http://schemas.openxmlformats.org/drawingml/2006/main">
            <a:pPr algn="l">
              <a:defRPr sz="1350" b="0">
                <a:solidFill>
                  <a:srgbClr val="173F36"/>
                </a:solidFill>
                <a:latin typeface="Aptos"/>
                <a:ea typeface="Aptos"/>
                <a:cs typeface="Aptos"/>
              </a:defRPr>
            </a:pPr>
            <a:r>
              <a:rPr sz="1350" b="0">
                <a:solidFill>
                  <a:srgbClr val="173F36"/>
                </a:solidFill>
                <a:latin typeface="Aptos"/>
                <a:ea typeface="Aptos"/>
                <a:cs typeface="Aptos"/>
              </a:rPr>
              <a:t>Reporting</a:t>
            </a:r>
          </a:p>
        </p:txBody>
      </p:sp>
      <p:sp>
        <p:nvSpPr>
          <p:cNvPr id="20" name="">
            <a:extLst xmlns:a="http://schemas.openxmlformats.org/drawingml/2006/main">
              <a:ext uri="{FF2B5EF4-FFF2-40B4-BE49-F238E27FC236}">
                <a16:creationId xmlns:a16="http://schemas.microsoft.com/office/drawing/2014/main" id="{C5ED0C4E-BF28-4A1B-9584-45CD301004C1}"/>
              </a:ext>
            </a:extLst>
          </p:cNvPr>
          <p:cNvSpPr>
            <a:spLocks xmlns:a="http://schemas.openxmlformats.org/drawingml/2006/main" noGrp="1"/>
          </p:cNvSpPr>
          <p:nvPr/>
        </p:nvSpPr>
        <p:spPr>
          <a:xfrm xmlns:a="http://schemas.openxmlformats.org/drawingml/2006/main">
            <a:off x="4381500" y="3324225"/>
            <a:ext cx="4953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2E7D5B"/>
                </a:solidFill>
                <a:latin typeface="Aptos"/>
                <a:ea typeface="Aptos"/>
                <a:cs typeface="Aptos"/>
              </a:defRPr>
            </a:pPr>
            <a:r>
              <a:rPr sz="900" b="1">
                <a:solidFill>
                  <a:srgbClr val="2E7D5B"/>
                </a:solidFill>
                <a:latin typeface="Aptos"/>
                <a:ea typeface="Aptos"/>
                <a:cs typeface="Aptos"/>
              </a:rPr>
              <a:t>04</a:t>
            </a:r>
          </a:p>
        </p:txBody>
      </p:sp>
      <p:sp>
        <p:nvSpPr>
          <p:cNvPr id="21" name="">
            <a:extLst xmlns:a="http://schemas.openxmlformats.org/drawingml/2006/main">
              <a:ext uri="{FF2B5EF4-FFF2-40B4-BE49-F238E27FC236}">
                <a16:creationId xmlns:a16="http://schemas.microsoft.com/office/drawing/2014/main" id="{349B163A-637E-49A4-AC0C-A7941992A68D}"/>
              </a:ext>
            </a:extLst>
          </p:cNvPr>
          <p:cNvSpPr>
            <a:spLocks xmlns:a="http://schemas.openxmlformats.org/drawingml/2006/main" noGrp="1"/>
          </p:cNvSpPr>
          <p:nvPr/>
        </p:nvSpPr>
        <p:spPr>
          <a:xfrm xmlns:a="http://schemas.openxmlformats.org/drawingml/2006/main">
            <a:off x="2362200" y="3686175"/>
            <a:ext cx="114300" cy="95250"/>
          </a:xfrm>
          <a:prstGeom xmlns:a="http://schemas.openxmlformats.org/drawingml/2006/main" prst="downArrow">
            <a:avLst/>
          </a:prstGeom>
          <a:solidFill xmlns:a="http://schemas.openxmlformats.org/drawingml/2006/main">
            <a:srgbClr val="2E7D5B"/>
          </a:solidFill>
          <a:ln xmlns:a="http://schemas.openxmlformats.org/drawingml/2006/main" w="0">
            <a:solidFill>
              <a:srgbClr val="2E7D5B"/>
            </a:solidFill>
            <a:prstDash val="solid"/>
          </a:ln>
        </p:spPr>
      </p:sp>
      <p:sp>
        <p:nvSpPr>
          <p:cNvPr id="22" name="">
            <a:extLst xmlns:a="http://schemas.openxmlformats.org/drawingml/2006/main">
              <a:ext uri="{FF2B5EF4-FFF2-40B4-BE49-F238E27FC236}">
                <a16:creationId xmlns:a16="http://schemas.microsoft.com/office/drawing/2014/main" id="{A4B9BC05-9F93-4E12-B5C9-C167182F75C8}"/>
              </a:ext>
            </a:extLst>
          </p:cNvPr>
          <p:cNvSpPr>
            <a:spLocks xmlns:a="http://schemas.openxmlformats.org/drawingml/2006/main" noGrp="1"/>
          </p:cNvSpPr>
          <p:nvPr/>
        </p:nvSpPr>
        <p:spPr>
          <a:xfrm xmlns:a="http://schemas.openxmlformats.org/drawingml/2006/main">
            <a:off x="666750" y="3790950"/>
            <a:ext cx="3524250" cy="361950"/>
          </a:xfrm>
          <a:prstGeom xmlns:a="http://schemas.openxmlformats.org/drawingml/2006/main" prst="rect">
            <a:avLst/>
          </a:prstGeom>
          <a:solidFill xmlns:a="http://schemas.openxmlformats.org/drawingml/2006/main">
            <a:srgbClr val="EAF3EE"/>
          </a:solidFill>
          <a:ln xmlns:a="http://schemas.openxmlformats.org/drawingml/2006/main" w="9525">
            <a:solidFill>
              <a:srgbClr val="C8D6D0"/>
            </a:solidFill>
            <a:prstDash val="solid"/>
          </a:ln>
        </p:spPr>
        <p:txBody>
          <a:bodyPr xmlns:a="http://schemas.openxmlformats.org/drawingml/2006/main" lIns="171450" tIns="57150" rIns="95250" bIns="57150" anchor="ctr"/>
          <a:lstStyle xmlns:a="http://schemas.openxmlformats.org/drawingml/2006/main"/>
          <a:p xmlns:a="http://schemas.openxmlformats.org/drawingml/2006/main">
            <a:pPr algn="l">
              <a:defRPr sz="1350" b="0">
                <a:solidFill>
                  <a:srgbClr val="173F36"/>
                </a:solidFill>
                <a:latin typeface="Aptos"/>
                <a:ea typeface="Aptos"/>
                <a:cs typeface="Aptos"/>
              </a:defRPr>
            </a:pPr>
            <a:r>
              <a:rPr sz="1350" b="0">
                <a:solidFill>
                  <a:srgbClr val="173F36"/>
                </a:solidFill>
                <a:latin typeface="Aptos"/>
                <a:ea typeface="Aptos"/>
                <a:cs typeface="Aptos"/>
              </a:rPr>
              <a:t>Returns</a:t>
            </a:r>
          </a:p>
        </p:txBody>
      </p:sp>
      <p:sp>
        <p:nvSpPr>
          <p:cNvPr id="23" name="">
            <a:extLst xmlns:a="http://schemas.openxmlformats.org/drawingml/2006/main">
              <a:ext uri="{FF2B5EF4-FFF2-40B4-BE49-F238E27FC236}">
                <a16:creationId xmlns:a16="http://schemas.microsoft.com/office/drawing/2014/main" id="{0EEDD070-2568-41AF-813F-A33B1B9A3166}"/>
              </a:ext>
            </a:extLst>
          </p:cNvPr>
          <p:cNvSpPr>
            <a:spLocks xmlns:a="http://schemas.openxmlformats.org/drawingml/2006/main" noGrp="1"/>
          </p:cNvSpPr>
          <p:nvPr/>
        </p:nvSpPr>
        <p:spPr>
          <a:xfrm xmlns:a="http://schemas.openxmlformats.org/drawingml/2006/main">
            <a:off x="4381500" y="3790950"/>
            <a:ext cx="4953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2E7D5B"/>
                </a:solidFill>
                <a:latin typeface="Aptos"/>
                <a:ea typeface="Aptos"/>
                <a:cs typeface="Aptos"/>
              </a:defRPr>
            </a:pPr>
            <a:r>
              <a:rPr sz="900" b="1">
                <a:solidFill>
                  <a:srgbClr val="2E7D5B"/>
                </a:solidFill>
                <a:latin typeface="Aptos"/>
                <a:ea typeface="Aptos"/>
                <a:cs typeface="Aptos"/>
              </a:rPr>
              <a:t>05</a:t>
            </a:r>
          </a:p>
        </p:txBody>
      </p:sp>
      <p:sp>
        <p:nvSpPr>
          <p:cNvPr id="24" name="">
            <a:extLst xmlns:a="http://schemas.openxmlformats.org/drawingml/2006/main">
              <a:ext uri="{FF2B5EF4-FFF2-40B4-BE49-F238E27FC236}">
                <a16:creationId xmlns:a16="http://schemas.microsoft.com/office/drawing/2014/main" id="{F48732A9-FB90-4431-A6D1-33D70790961D}"/>
              </a:ext>
            </a:extLst>
          </p:cNvPr>
          <p:cNvSpPr>
            <a:spLocks xmlns:a="http://schemas.openxmlformats.org/drawingml/2006/main" noGrp="1"/>
          </p:cNvSpPr>
          <p:nvPr/>
        </p:nvSpPr>
        <p:spPr>
          <a:xfrm xmlns:a="http://schemas.openxmlformats.org/drawingml/2006/main">
            <a:off x="2362200" y="4152900"/>
            <a:ext cx="114300" cy="95250"/>
          </a:xfrm>
          <a:prstGeom xmlns:a="http://schemas.openxmlformats.org/drawingml/2006/main" prst="downArrow">
            <a:avLst/>
          </a:prstGeom>
          <a:solidFill xmlns:a="http://schemas.openxmlformats.org/drawingml/2006/main">
            <a:srgbClr val="2E7D5B"/>
          </a:solidFill>
          <a:ln xmlns:a="http://schemas.openxmlformats.org/drawingml/2006/main" w="0">
            <a:solidFill>
              <a:srgbClr val="2E7D5B"/>
            </a:solidFill>
            <a:prstDash val="solid"/>
          </a:ln>
        </p:spPr>
      </p:sp>
      <p:sp>
        <p:nvSpPr>
          <p:cNvPr id="25" name="">
            <a:extLst xmlns:a="http://schemas.openxmlformats.org/drawingml/2006/main">
              <a:ext uri="{FF2B5EF4-FFF2-40B4-BE49-F238E27FC236}">
                <a16:creationId xmlns:a16="http://schemas.microsoft.com/office/drawing/2014/main" id="{65178C28-994C-4D9C-9BB5-56A1D16BF5BC}"/>
              </a:ext>
            </a:extLst>
          </p:cNvPr>
          <p:cNvSpPr>
            <a:spLocks xmlns:a="http://schemas.openxmlformats.org/drawingml/2006/main" noGrp="1"/>
          </p:cNvSpPr>
          <p:nvPr/>
        </p:nvSpPr>
        <p:spPr>
          <a:xfrm xmlns:a="http://schemas.openxmlformats.org/drawingml/2006/main">
            <a:off x="666750" y="4257675"/>
            <a:ext cx="3524250" cy="361950"/>
          </a:xfrm>
          <a:prstGeom xmlns:a="http://schemas.openxmlformats.org/drawingml/2006/main" prst="rect">
            <a:avLst/>
          </a:prstGeom>
          <a:solidFill xmlns:a="http://schemas.openxmlformats.org/drawingml/2006/main">
            <a:srgbClr val="E8F0F5"/>
          </a:solidFill>
          <a:ln xmlns:a="http://schemas.openxmlformats.org/drawingml/2006/main" w="9525">
            <a:solidFill>
              <a:srgbClr val="C8D6D0"/>
            </a:solidFill>
            <a:prstDash val="solid"/>
          </a:ln>
        </p:spPr>
        <p:txBody>
          <a:bodyPr xmlns:a="http://schemas.openxmlformats.org/drawingml/2006/main" lIns="171450" tIns="57150" rIns="95250" bIns="57150" anchor="ctr"/>
          <a:lstStyle xmlns:a="http://schemas.openxmlformats.org/drawingml/2006/main"/>
          <a:p xmlns:a="http://schemas.openxmlformats.org/drawingml/2006/main">
            <a:pPr algn="l">
              <a:defRPr sz="1350" b="1">
                <a:solidFill>
                  <a:srgbClr val="173F36"/>
                </a:solidFill>
                <a:latin typeface="Aptos"/>
                <a:ea typeface="Aptos"/>
                <a:cs typeface="Aptos"/>
              </a:defRPr>
            </a:pPr>
            <a:r>
              <a:rPr sz="1350" b="1">
                <a:solidFill>
                  <a:srgbClr val="173F36"/>
                </a:solidFill>
                <a:latin typeface="Aptos"/>
                <a:ea typeface="Aptos"/>
                <a:cs typeface="Aptos"/>
              </a:rPr>
              <a:t>Settlement</a:t>
            </a:r>
          </a:p>
        </p:txBody>
      </p:sp>
      <p:sp>
        <p:nvSpPr>
          <p:cNvPr id="26" name="">
            <a:extLst xmlns:a="http://schemas.openxmlformats.org/drawingml/2006/main">
              <a:ext uri="{FF2B5EF4-FFF2-40B4-BE49-F238E27FC236}">
                <a16:creationId xmlns:a16="http://schemas.microsoft.com/office/drawing/2014/main" id="{9C31AFA0-0A69-4C63-AAB1-17F9F2ADB5EB}"/>
              </a:ext>
            </a:extLst>
          </p:cNvPr>
          <p:cNvSpPr>
            <a:spLocks xmlns:a="http://schemas.openxmlformats.org/drawingml/2006/main" noGrp="1"/>
          </p:cNvSpPr>
          <p:nvPr/>
        </p:nvSpPr>
        <p:spPr>
          <a:xfrm xmlns:a="http://schemas.openxmlformats.org/drawingml/2006/main">
            <a:off x="4381500" y="4257675"/>
            <a:ext cx="4953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2E7D5B"/>
                </a:solidFill>
                <a:latin typeface="Aptos"/>
                <a:ea typeface="Aptos"/>
                <a:cs typeface="Aptos"/>
              </a:defRPr>
            </a:pPr>
            <a:r>
              <a:rPr sz="900" b="1">
                <a:solidFill>
                  <a:srgbClr val="2E7D5B"/>
                </a:solidFill>
                <a:latin typeface="Aptos"/>
                <a:ea typeface="Aptos"/>
                <a:cs typeface="Aptos"/>
              </a:rPr>
              <a:t>06</a:t>
            </a:r>
          </a:p>
        </p:txBody>
      </p:sp>
      <p:sp>
        <p:nvSpPr>
          <p:cNvPr id="27" name="">
            <a:extLst xmlns:a="http://schemas.openxmlformats.org/drawingml/2006/main">
              <a:ext uri="{FF2B5EF4-FFF2-40B4-BE49-F238E27FC236}">
                <a16:creationId xmlns:a16="http://schemas.microsoft.com/office/drawing/2014/main" id="{EADBFEE2-E2E6-4346-8837-73869961088B}"/>
              </a:ext>
            </a:extLst>
          </p:cNvPr>
          <p:cNvSpPr>
            <a:spLocks xmlns:a="http://schemas.openxmlformats.org/drawingml/2006/main" noGrp="1"/>
          </p:cNvSpPr>
          <p:nvPr/>
        </p:nvSpPr>
        <p:spPr>
          <a:xfrm xmlns:a="http://schemas.openxmlformats.org/drawingml/2006/main">
            <a:off x="6400800" y="1924050"/>
            <a:ext cx="3238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1">
                <a:solidFill>
                  <a:srgbClr val="D5A43A"/>
                </a:solidFill>
                <a:latin typeface="Aptos"/>
                <a:ea typeface="Aptos"/>
                <a:cs typeface="Aptos"/>
              </a:defRPr>
            </a:pPr>
            <a:r>
              <a:rPr sz="825" b="1">
                <a:solidFill>
                  <a:srgbClr val="D5A43A"/>
                </a:solidFill>
                <a:latin typeface="Aptos"/>
                <a:ea typeface="Aptos"/>
                <a:cs typeface="Aptos"/>
              </a:rPr>
              <a:t>01</a:t>
            </a:r>
          </a:p>
        </p:txBody>
      </p:sp>
      <p:sp>
        <p:nvSpPr>
          <p:cNvPr id="28" name="">
            <a:extLst xmlns:a="http://schemas.openxmlformats.org/drawingml/2006/main">
              <a:ext uri="{FF2B5EF4-FFF2-40B4-BE49-F238E27FC236}">
                <a16:creationId xmlns:a16="http://schemas.microsoft.com/office/drawing/2014/main" id="{6DFFE3E4-60B6-4981-B874-59906BB9EAB8}"/>
              </a:ext>
            </a:extLst>
          </p:cNvPr>
          <p:cNvSpPr>
            <a:spLocks xmlns:a="http://schemas.openxmlformats.org/drawingml/2006/main" noGrp="1"/>
          </p:cNvSpPr>
          <p:nvPr/>
        </p:nvSpPr>
        <p:spPr>
          <a:xfrm xmlns:a="http://schemas.openxmlformats.org/drawingml/2006/main">
            <a:off x="6819900" y="1924050"/>
            <a:ext cx="44386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57150" rIns="76200" bIns="57150" anchor="ctr"/>
          <a:lstStyle xmlns:a="http://schemas.openxmlformats.org/drawingml/2006/main"/>
          <a:p xmlns:a="http://schemas.openxmlformats.org/drawingml/2006/main">
            <a:pPr algn="l">
              <a:defRPr sz="1275" b="0">
                <a:solidFill>
                  <a:srgbClr val="20332E"/>
                </a:solidFill>
                <a:latin typeface="Aptos"/>
                <a:ea typeface="Aptos"/>
                <a:cs typeface="Aptos"/>
              </a:defRPr>
            </a:pPr>
            <a:r>
              <a:rPr sz="1275" b="0">
                <a:solidFill>
                  <a:srgbClr val="20332E"/>
                </a:solidFill>
                <a:latin typeface="Aptos"/>
                <a:ea typeface="Aptos"/>
                <a:cs typeface="Aptos"/>
              </a:rPr>
              <a:t>Limited visibility after funding</a:t>
            </a:r>
          </a:p>
        </p:txBody>
      </p:sp>
      <p:sp>
        <p:nvSpPr>
          <p:cNvPr id="29" name="">
            <a:extLst xmlns:a="http://schemas.openxmlformats.org/drawingml/2006/main">
              <a:ext uri="{FF2B5EF4-FFF2-40B4-BE49-F238E27FC236}">
                <a16:creationId xmlns:a16="http://schemas.microsoft.com/office/drawing/2014/main" id="{4D1F6964-AA24-4081-8301-02CB256EAED4}"/>
              </a:ext>
            </a:extLst>
          </p:cNvPr>
          <p:cNvSpPr>
            <a:spLocks xmlns:a="http://schemas.openxmlformats.org/drawingml/2006/main" noGrp="1"/>
          </p:cNvSpPr>
          <p:nvPr/>
        </p:nvSpPr>
        <p:spPr>
          <a:xfrm xmlns:a="http://schemas.openxmlformats.org/drawingml/2006/main">
            <a:off x="6819900" y="2276475"/>
            <a:ext cx="4343400" cy="9525"/>
          </a:xfrm>
          <a:prstGeom xmlns:a="http://schemas.openxmlformats.org/drawingml/2006/main" prst="rect">
            <a:avLst/>
          </a:prstGeom>
          <a:solidFill xmlns:a="http://schemas.openxmlformats.org/drawingml/2006/main">
            <a:srgbClr val="D8DFDC"/>
          </a:solidFill>
          <a:ln xmlns:a="http://schemas.openxmlformats.org/drawingml/2006/main" w="0">
            <a:solidFill>
              <a:srgbClr val="D8DFDC"/>
            </a:solidFill>
            <a:prstDash val="solid"/>
          </a:ln>
        </p:spPr>
      </p:sp>
      <p:sp>
        <p:nvSpPr>
          <p:cNvPr id="30" name="">
            <a:extLst xmlns:a="http://schemas.openxmlformats.org/drawingml/2006/main">
              <a:ext uri="{FF2B5EF4-FFF2-40B4-BE49-F238E27FC236}">
                <a16:creationId xmlns:a16="http://schemas.microsoft.com/office/drawing/2014/main" id="{BC111E22-FBB6-4A99-8217-8876857DADD0}"/>
              </a:ext>
            </a:extLst>
          </p:cNvPr>
          <p:cNvSpPr>
            <a:spLocks xmlns:a="http://schemas.openxmlformats.org/drawingml/2006/main" noGrp="1"/>
          </p:cNvSpPr>
          <p:nvPr/>
        </p:nvSpPr>
        <p:spPr>
          <a:xfrm xmlns:a="http://schemas.openxmlformats.org/drawingml/2006/main">
            <a:off x="6400800" y="2390775"/>
            <a:ext cx="3238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1">
                <a:solidFill>
                  <a:srgbClr val="D5A43A"/>
                </a:solidFill>
                <a:latin typeface="Aptos"/>
                <a:ea typeface="Aptos"/>
                <a:cs typeface="Aptos"/>
              </a:defRPr>
            </a:pPr>
            <a:r>
              <a:rPr sz="825" b="1">
                <a:solidFill>
                  <a:srgbClr val="D5A43A"/>
                </a:solidFill>
                <a:latin typeface="Aptos"/>
                <a:ea typeface="Aptos"/>
                <a:cs typeface="Aptos"/>
              </a:rPr>
              <a:t>02</a:t>
            </a:r>
          </a:p>
        </p:txBody>
      </p:sp>
      <p:sp>
        <p:nvSpPr>
          <p:cNvPr id="31" name="">
            <a:extLst xmlns:a="http://schemas.openxmlformats.org/drawingml/2006/main">
              <a:ext uri="{FF2B5EF4-FFF2-40B4-BE49-F238E27FC236}">
                <a16:creationId xmlns:a16="http://schemas.microsoft.com/office/drawing/2014/main" id="{3497043C-8029-423D-863B-45904A50C0FB}"/>
              </a:ext>
            </a:extLst>
          </p:cNvPr>
          <p:cNvSpPr>
            <a:spLocks xmlns:a="http://schemas.openxmlformats.org/drawingml/2006/main" noGrp="1"/>
          </p:cNvSpPr>
          <p:nvPr/>
        </p:nvSpPr>
        <p:spPr>
          <a:xfrm xmlns:a="http://schemas.openxmlformats.org/drawingml/2006/main">
            <a:off x="6819900" y="2390775"/>
            <a:ext cx="44386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57150" rIns="76200" bIns="57150" anchor="ctr"/>
          <a:lstStyle xmlns:a="http://schemas.openxmlformats.org/drawingml/2006/main"/>
          <a:p xmlns:a="http://schemas.openxmlformats.org/drawingml/2006/main">
            <a:pPr algn="l">
              <a:defRPr sz="1275" b="0">
                <a:solidFill>
                  <a:srgbClr val="20332E"/>
                </a:solidFill>
                <a:latin typeface="Aptos"/>
                <a:ea typeface="Aptos"/>
                <a:cs typeface="Aptos"/>
              </a:defRPr>
            </a:pPr>
            <a:r>
              <a:rPr sz="1275" b="0">
                <a:solidFill>
                  <a:srgbClr val="20332E"/>
                </a:solidFill>
                <a:latin typeface="Aptos"/>
                <a:ea typeface="Aptos"/>
                <a:cs typeface="Aptos"/>
              </a:rPr>
              <a:t>Fragmented Project information</a:t>
            </a:r>
          </a:p>
        </p:txBody>
      </p:sp>
      <p:sp>
        <p:nvSpPr>
          <p:cNvPr id="32" name="">
            <a:extLst xmlns:a="http://schemas.openxmlformats.org/drawingml/2006/main">
              <a:ext uri="{FF2B5EF4-FFF2-40B4-BE49-F238E27FC236}">
                <a16:creationId xmlns:a16="http://schemas.microsoft.com/office/drawing/2014/main" id="{82451F53-A288-46AE-84DA-9C0CA495C968}"/>
              </a:ext>
            </a:extLst>
          </p:cNvPr>
          <p:cNvSpPr>
            <a:spLocks xmlns:a="http://schemas.openxmlformats.org/drawingml/2006/main" noGrp="1"/>
          </p:cNvSpPr>
          <p:nvPr/>
        </p:nvSpPr>
        <p:spPr>
          <a:xfrm xmlns:a="http://schemas.openxmlformats.org/drawingml/2006/main">
            <a:off x="6819900" y="2743200"/>
            <a:ext cx="4343400" cy="9525"/>
          </a:xfrm>
          <a:prstGeom xmlns:a="http://schemas.openxmlformats.org/drawingml/2006/main" prst="rect">
            <a:avLst/>
          </a:prstGeom>
          <a:solidFill xmlns:a="http://schemas.openxmlformats.org/drawingml/2006/main">
            <a:srgbClr val="D8DFDC"/>
          </a:solidFill>
          <a:ln xmlns:a="http://schemas.openxmlformats.org/drawingml/2006/main" w="0">
            <a:solidFill>
              <a:srgbClr val="D8DFDC"/>
            </a:solidFill>
            <a:prstDash val="solid"/>
          </a:ln>
        </p:spPr>
      </p:sp>
      <p:sp>
        <p:nvSpPr>
          <p:cNvPr id="33" name="">
            <a:extLst xmlns:a="http://schemas.openxmlformats.org/drawingml/2006/main">
              <a:ext uri="{FF2B5EF4-FFF2-40B4-BE49-F238E27FC236}">
                <a16:creationId xmlns:a16="http://schemas.microsoft.com/office/drawing/2014/main" id="{AC5228CE-2449-4298-A3B3-9D0D911C8DF2}"/>
              </a:ext>
            </a:extLst>
          </p:cNvPr>
          <p:cNvSpPr>
            <a:spLocks xmlns:a="http://schemas.openxmlformats.org/drawingml/2006/main" noGrp="1"/>
          </p:cNvSpPr>
          <p:nvPr/>
        </p:nvSpPr>
        <p:spPr>
          <a:xfrm xmlns:a="http://schemas.openxmlformats.org/drawingml/2006/main">
            <a:off x="6400800" y="2857500"/>
            <a:ext cx="3238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1">
                <a:solidFill>
                  <a:srgbClr val="D5A43A"/>
                </a:solidFill>
                <a:latin typeface="Aptos"/>
                <a:ea typeface="Aptos"/>
                <a:cs typeface="Aptos"/>
              </a:defRPr>
            </a:pPr>
            <a:r>
              <a:rPr sz="825" b="1">
                <a:solidFill>
                  <a:srgbClr val="D5A43A"/>
                </a:solidFill>
                <a:latin typeface="Aptos"/>
                <a:ea typeface="Aptos"/>
                <a:cs typeface="Aptos"/>
              </a:rPr>
              <a:t>03</a:t>
            </a:r>
          </a:p>
        </p:txBody>
      </p:sp>
      <p:sp>
        <p:nvSpPr>
          <p:cNvPr id="34" name="">
            <a:extLst xmlns:a="http://schemas.openxmlformats.org/drawingml/2006/main">
              <a:ext uri="{FF2B5EF4-FFF2-40B4-BE49-F238E27FC236}">
                <a16:creationId xmlns:a16="http://schemas.microsoft.com/office/drawing/2014/main" id="{ED4BE0A9-836F-41DE-9D11-C2D966E91F40}"/>
              </a:ext>
            </a:extLst>
          </p:cNvPr>
          <p:cNvSpPr>
            <a:spLocks xmlns:a="http://schemas.openxmlformats.org/drawingml/2006/main" noGrp="1"/>
          </p:cNvSpPr>
          <p:nvPr/>
        </p:nvSpPr>
        <p:spPr>
          <a:xfrm xmlns:a="http://schemas.openxmlformats.org/drawingml/2006/main">
            <a:off x="6819900" y="2857500"/>
            <a:ext cx="44386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57150" rIns="76200" bIns="57150" anchor="ctr"/>
          <a:lstStyle xmlns:a="http://schemas.openxmlformats.org/drawingml/2006/main"/>
          <a:p xmlns:a="http://schemas.openxmlformats.org/drawingml/2006/main">
            <a:pPr algn="l">
              <a:defRPr sz="1275" b="0">
                <a:solidFill>
                  <a:srgbClr val="20332E"/>
                </a:solidFill>
                <a:latin typeface="Aptos"/>
                <a:ea typeface="Aptos"/>
                <a:cs typeface="Aptos"/>
              </a:defRPr>
            </a:pPr>
            <a:r>
              <a:rPr sz="1275" b="0">
                <a:solidFill>
                  <a:srgbClr val="20332E"/>
                </a:solidFill>
                <a:latin typeface="Aptos"/>
                <a:ea typeface="Aptos"/>
                <a:cs typeface="Aptos"/>
              </a:rPr>
              <a:t>Difficult progress tracking</a:t>
            </a:r>
          </a:p>
        </p:txBody>
      </p:sp>
      <p:sp>
        <p:nvSpPr>
          <p:cNvPr id="35" name="">
            <a:extLst xmlns:a="http://schemas.openxmlformats.org/drawingml/2006/main">
              <a:ext uri="{FF2B5EF4-FFF2-40B4-BE49-F238E27FC236}">
                <a16:creationId xmlns:a16="http://schemas.microsoft.com/office/drawing/2014/main" id="{38E462B9-4E62-4B0C-9110-04B5B030347D}"/>
              </a:ext>
            </a:extLst>
          </p:cNvPr>
          <p:cNvSpPr>
            <a:spLocks xmlns:a="http://schemas.openxmlformats.org/drawingml/2006/main" noGrp="1"/>
          </p:cNvSpPr>
          <p:nvPr/>
        </p:nvSpPr>
        <p:spPr>
          <a:xfrm xmlns:a="http://schemas.openxmlformats.org/drawingml/2006/main">
            <a:off x="6819900" y="3209925"/>
            <a:ext cx="4343400" cy="9525"/>
          </a:xfrm>
          <a:prstGeom xmlns:a="http://schemas.openxmlformats.org/drawingml/2006/main" prst="rect">
            <a:avLst/>
          </a:prstGeom>
          <a:solidFill xmlns:a="http://schemas.openxmlformats.org/drawingml/2006/main">
            <a:srgbClr val="D8DFDC"/>
          </a:solidFill>
          <a:ln xmlns:a="http://schemas.openxmlformats.org/drawingml/2006/main" w="0">
            <a:solidFill>
              <a:srgbClr val="D8DFDC"/>
            </a:solidFill>
            <a:prstDash val="solid"/>
          </a:ln>
        </p:spPr>
      </p:sp>
      <p:sp>
        <p:nvSpPr>
          <p:cNvPr id="36" name="">
            <a:extLst xmlns:a="http://schemas.openxmlformats.org/drawingml/2006/main">
              <a:ext uri="{FF2B5EF4-FFF2-40B4-BE49-F238E27FC236}">
                <a16:creationId xmlns:a16="http://schemas.microsoft.com/office/drawing/2014/main" id="{924C5DDE-008F-43B7-B291-EEDEE49B5872}"/>
              </a:ext>
            </a:extLst>
          </p:cNvPr>
          <p:cNvSpPr>
            <a:spLocks xmlns:a="http://schemas.openxmlformats.org/drawingml/2006/main" noGrp="1"/>
          </p:cNvSpPr>
          <p:nvPr/>
        </p:nvSpPr>
        <p:spPr>
          <a:xfrm xmlns:a="http://schemas.openxmlformats.org/drawingml/2006/main">
            <a:off x="6400800" y="3324225"/>
            <a:ext cx="3238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1">
                <a:solidFill>
                  <a:srgbClr val="D5A43A"/>
                </a:solidFill>
                <a:latin typeface="Aptos"/>
                <a:ea typeface="Aptos"/>
                <a:cs typeface="Aptos"/>
              </a:defRPr>
            </a:pPr>
            <a:r>
              <a:rPr sz="825" b="1">
                <a:solidFill>
                  <a:srgbClr val="D5A43A"/>
                </a:solidFill>
                <a:latin typeface="Aptos"/>
                <a:ea typeface="Aptos"/>
                <a:cs typeface="Aptos"/>
              </a:rPr>
              <a:t>04</a:t>
            </a:r>
          </a:p>
        </p:txBody>
      </p:sp>
      <p:sp>
        <p:nvSpPr>
          <p:cNvPr id="37" name="">
            <a:extLst xmlns:a="http://schemas.openxmlformats.org/drawingml/2006/main">
              <a:ext uri="{FF2B5EF4-FFF2-40B4-BE49-F238E27FC236}">
                <a16:creationId xmlns:a16="http://schemas.microsoft.com/office/drawing/2014/main" id="{9CAE77CD-0DDA-4BE8-B8BA-374938A5DC2B}"/>
              </a:ext>
            </a:extLst>
          </p:cNvPr>
          <p:cNvSpPr>
            <a:spLocks xmlns:a="http://schemas.openxmlformats.org/drawingml/2006/main" noGrp="1"/>
          </p:cNvSpPr>
          <p:nvPr/>
        </p:nvSpPr>
        <p:spPr>
          <a:xfrm xmlns:a="http://schemas.openxmlformats.org/drawingml/2006/main">
            <a:off x="6819900" y="3324225"/>
            <a:ext cx="44386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57150" rIns="76200" bIns="57150" anchor="ctr"/>
          <a:lstStyle xmlns:a="http://schemas.openxmlformats.org/drawingml/2006/main"/>
          <a:p xmlns:a="http://schemas.openxmlformats.org/drawingml/2006/main">
            <a:pPr algn="l">
              <a:defRPr sz="1275" b="0">
                <a:solidFill>
                  <a:srgbClr val="20332E"/>
                </a:solidFill>
                <a:latin typeface="Aptos"/>
                <a:ea typeface="Aptos"/>
                <a:cs typeface="Aptos"/>
              </a:defRPr>
            </a:pPr>
            <a:r>
              <a:rPr sz="1275" b="0">
                <a:solidFill>
                  <a:srgbClr val="20332E"/>
                </a:solidFill>
                <a:latin typeface="Aptos"/>
                <a:ea typeface="Aptos"/>
                <a:cs typeface="Aptos"/>
              </a:rPr>
              <a:t>Inconsistent reporting</a:t>
            </a:r>
          </a:p>
        </p:txBody>
      </p:sp>
      <p:sp>
        <p:nvSpPr>
          <p:cNvPr id="38" name="">
            <a:extLst xmlns:a="http://schemas.openxmlformats.org/drawingml/2006/main">
              <a:ext uri="{FF2B5EF4-FFF2-40B4-BE49-F238E27FC236}">
                <a16:creationId xmlns:a16="http://schemas.microsoft.com/office/drawing/2014/main" id="{86B87E0C-2207-4248-BFD1-CDF8D8DEFE16}"/>
              </a:ext>
            </a:extLst>
          </p:cNvPr>
          <p:cNvSpPr>
            <a:spLocks xmlns:a="http://schemas.openxmlformats.org/drawingml/2006/main" noGrp="1"/>
          </p:cNvSpPr>
          <p:nvPr/>
        </p:nvSpPr>
        <p:spPr>
          <a:xfrm xmlns:a="http://schemas.openxmlformats.org/drawingml/2006/main">
            <a:off x="6819900" y="3676650"/>
            <a:ext cx="4343400" cy="9525"/>
          </a:xfrm>
          <a:prstGeom xmlns:a="http://schemas.openxmlformats.org/drawingml/2006/main" prst="rect">
            <a:avLst/>
          </a:prstGeom>
          <a:solidFill xmlns:a="http://schemas.openxmlformats.org/drawingml/2006/main">
            <a:srgbClr val="D8DFDC"/>
          </a:solidFill>
          <a:ln xmlns:a="http://schemas.openxmlformats.org/drawingml/2006/main" w="0">
            <a:solidFill>
              <a:srgbClr val="D8DFDC"/>
            </a:solidFill>
            <a:prstDash val="solid"/>
          </a:ln>
        </p:spPr>
      </p:sp>
      <p:sp>
        <p:nvSpPr>
          <p:cNvPr id="39" name="">
            <a:extLst xmlns:a="http://schemas.openxmlformats.org/drawingml/2006/main">
              <a:ext uri="{FF2B5EF4-FFF2-40B4-BE49-F238E27FC236}">
                <a16:creationId xmlns:a16="http://schemas.microsoft.com/office/drawing/2014/main" id="{DD5FD36B-DC1A-411C-80DE-B4880D3B786F}"/>
              </a:ext>
            </a:extLst>
          </p:cNvPr>
          <p:cNvSpPr>
            <a:spLocks xmlns:a="http://schemas.openxmlformats.org/drawingml/2006/main" noGrp="1"/>
          </p:cNvSpPr>
          <p:nvPr/>
        </p:nvSpPr>
        <p:spPr>
          <a:xfrm xmlns:a="http://schemas.openxmlformats.org/drawingml/2006/main">
            <a:off x="6400800" y="3790950"/>
            <a:ext cx="3238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1">
                <a:solidFill>
                  <a:srgbClr val="D5A43A"/>
                </a:solidFill>
                <a:latin typeface="Aptos"/>
                <a:ea typeface="Aptos"/>
                <a:cs typeface="Aptos"/>
              </a:defRPr>
            </a:pPr>
            <a:r>
              <a:rPr sz="825" b="1">
                <a:solidFill>
                  <a:srgbClr val="D5A43A"/>
                </a:solidFill>
                <a:latin typeface="Aptos"/>
                <a:ea typeface="Aptos"/>
                <a:cs typeface="Aptos"/>
              </a:rPr>
              <a:t>05</a:t>
            </a:r>
          </a:p>
        </p:txBody>
      </p:sp>
      <p:sp>
        <p:nvSpPr>
          <p:cNvPr id="40" name="">
            <a:extLst xmlns:a="http://schemas.openxmlformats.org/drawingml/2006/main">
              <a:ext uri="{FF2B5EF4-FFF2-40B4-BE49-F238E27FC236}">
                <a16:creationId xmlns:a16="http://schemas.microsoft.com/office/drawing/2014/main" id="{3CA17E46-285E-4C5C-BB41-3D0803CE7AF3}"/>
              </a:ext>
            </a:extLst>
          </p:cNvPr>
          <p:cNvSpPr>
            <a:spLocks xmlns:a="http://schemas.openxmlformats.org/drawingml/2006/main" noGrp="1"/>
          </p:cNvSpPr>
          <p:nvPr/>
        </p:nvSpPr>
        <p:spPr>
          <a:xfrm xmlns:a="http://schemas.openxmlformats.org/drawingml/2006/main">
            <a:off x="6819900" y="3790950"/>
            <a:ext cx="44386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57150" rIns="76200" bIns="57150" anchor="ctr"/>
          <a:lstStyle xmlns:a="http://schemas.openxmlformats.org/drawingml/2006/main"/>
          <a:p xmlns:a="http://schemas.openxmlformats.org/drawingml/2006/main">
            <a:pPr algn="l">
              <a:defRPr sz="1275" b="0">
                <a:solidFill>
                  <a:srgbClr val="20332E"/>
                </a:solidFill>
                <a:latin typeface="Aptos"/>
                <a:ea typeface="Aptos"/>
                <a:cs typeface="Aptos"/>
              </a:defRPr>
            </a:pPr>
            <a:r>
              <a:rPr sz="1275" b="0">
                <a:solidFill>
                  <a:srgbClr val="20332E"/>
                </a:solidFill>
                <a:latin typeface="Aptos"/>
                <a:ea typeface="Aptos"/>
                <a:cs typeface="Aptos"/>
              </a:rPr>
              <a:t>Documents stored in multiple places</a:t>
            </a:r>
          </a:p>
        </p:txBody>
      </p:sp>
      <p:sp>
        <p:nvSpPr>
          <p:cNvPr id="41" name="">
            <a:extLst xmlns:a="http://schemas.openxmlformats.org/drawingml/2006/main">
              <a:ext uri="{FF2B5EF4-FFF2-40B4-BE49-F238E27FC236}">
                <a16:creationId xmlns:a16="http://schemas.microsoft.com/office/drawing/2014/main" id="{8142E2C6-C2AB-4400-81ED-88984EB18B4D}"/>
              </a:ext>
            </a:extLst>
          </p:cNvPr>
          <p:cNvSpPr>
            <a:spLocks xmlns:a="http://schemas.openxmlformats.org/drawingml/2006/main" noGrp="1"/>
          </p:cNvSpPr>
          <p:nvPr/>
        </p:nvSpPr>
        <p:spPr>
          <a:xfrm xmlns:a="http://schemas.openxmlformats.org/drawingml/2006/main">
            <a:off x="6819900" y="4143375"/>
            <a:ext cx="4343400" cy="9525"/>
          </a:xfrm>
          <a:prstGeom xmlns:a="http://schemas.openxmlformats.org/drawingml/2006/main" prst="rect">
            <a:avLst/>
          </a:prstGeom>
          <a:solidFill xmlns:a="http://schemas.openxmlformats.org/drawingml/2006/main">
            <a:srgbClr val="D8DFDC"/>
          </a:solidFill>
          <a:ln xmlns:a="http://schemas.openxmlformats.org/drawingml/2006/main" w="0">
            <a:solidFill>
              <a:srgbClr val="D8DFDC"/>
            </a:solidFill>
            <a:prstDash val="solid"/>
          </a:ln>
        </p:spPr>
      </p:sp>
      <p:sp>
        <p:nvSpPr>
          <p:cNvPr id="42" name="">
            <a:extLst xmlns:a="http://schemas.openxmlformats.org/drawingml/2006/main">
              <a:ext uri="{FF2B5EF4-FFF2-40B4-BE49-F238E27FC236}">
                <a16:creationId xmlns:a16="http://schemas.microsoft.com/office/drawing/2014/main" id="{1E212B8C-0D79-4C39-AD95-CE7C83D65ED5}"/>
              </a:ext>
            </a:extLst>
          </p:cNvPr>
          <p:cNvSpPr>
            <a:spLocks xmlns:a="http://schemas.openxmlformats.org/drawingml/2006/main" noGrp="1"/>
          </p:cNvSpPr>
          <p:nvPr/>
        </p:nvSpPr>
        <p:spPr>
          <a:xfrm xmlns:a="http://schemas.openxmlformats.org/drawingml/2006/main">
            <a:off x="6400800" y="4257675"/>
            <a:ext cx="3238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1">
                <a:solidFill>
                  <a:srgbClr val="D5A43A"/>
                </a:solidFill>
                <a:latin typeface="Aptos"/>
                <a:ea typeface="Aptos"/>
                <a:cs typeface="Aptos"/>
              </a:defRPr>
            </a:pPr>
            <a:r>
              <a:rPr sz="825" b="1">
                <a:solidFill>
                  <a:srgbClr val="D5A43A"/>
                </a:solidFill>
                <a:latin typeface="Aptos"/>
                <a:ea typeface="Aptos"/>
                <a:cs typeface="Aptos"/>
              </a:rPr>
              <a:t>06</a:t>
            </a:r>
          </a:p>
        </p:txBody>
      </p:sp>
      <p:sp>
        <p:nvSpPr>
          <p:cNvPr id="43" name="">
            <a:extLst xmlns:a="http://schemas.openxmlformats.org/drawingml/2006/main">
              <a:ext uri="{FF2B5EF4-FFF2-40B4-BE49-F238E27FC236}">
                <a16:creationId xmlns:a16="http://schemas.microsoft.com/office/drawing/2014/main" id="{A56E89EC-188F-46A7-B41B-D03C2C16DA2B}"/>
              </a:ext>
            </a:extLst>
          </p:cNvPr>
          <p:cNvSpPr>
            <a:spLocks xmlns:a="http://schemas.openxmlformats.org/drawingml/2006/main" noGrp="1"/>
          </p:cNvSpPr>
          <p:nvPr/>
        </p:nvSpPr>
        <p:spPr>
          <a:xfrm xmlns:a="http://schemas.openxmlformats.org/drawingml/2006/main">
            <a:off x="6819900" y="4257675"/>
            <a:ext cx="44386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57150" rIns="76200" bIns="57150" anchor="ctr"/>
          <a:lstStyle xmlns:a="http://schemas.openxmlformats.org/drawingml/2006/main"/>
          <a:p xmlns:a="http://schemas.openxmlformats.org/drawingml/2006/main">
            <a:pPr algn="l">
              <a:defRPr sz="1275" b="0">
                <a:solidFill>
                  <a:srgbClr val="20332E"/>
                </a:solidFill>
                <a:latin typeface="Aptos"/>
                <a:ea typeface="Aptos"/>
                <a:cs typeface="Aptos"/>
              </a:defRPr>
            </a:pPr>
            <a:r>
              <a:rPr sz="1275" b="0">
                <a:solidFill>
                  <a:srgbClr val="20332E"/>
                </a:solidFill>
                <a:latin typeface="Aptos"/>
                <a:ea typeface="Aptos"/>
                <a:cs typeface="Aptos"/>
              </a:rPr>
              <a:t>Limited operational visibility</a:t>
            </a:r>
          </a:p>
        </p:txBody>
      </p:sp>
      <p:sp>
        <p:nvSpPr>
          <p:cNvPr id="44" name="">
            <a:extLst xmlns:a="http://schemas.openxmlformats.org/drawingml/2006/main">
              <a:ext uri="{FF2B5EF4-FFF2-40B4-BE49-F238E27FC236}">
                <a16:creationId xmlns:a16="http://schemas.microsoft.com/office/drawing/2014/main" id="{7564C5CD-D1BC-4156-9419-785E2CF1417C}"/>
              </a:ext>
            </a:extLst>
          </p:cNvPr>
          <p:cNvSpPr>
            <a:spLocks xmlns:a="http://schemas.openxmlformats.org/drawingml/2006/main" noGrp="1"/>
          </p:cNvSpPr>
          <p:nvPr/>
        </p:nvSpPr>
        <p:spPr>
          <a:xfrm xmlns:a="http://schemas.openxmlformats.org/drawingml/2006/main">
            <a:off x="6819900" y="4610100"/>
            <a:ext cx="4343400" cy="9525"/>
          </a:xfrm>
          <a:prstGeom xmlns:a="http://schemas.openxmlformats.org/drawingml/2006/main" prst="rect">
            <a:avLst/>
          </a:prstGeom>
          <a:solidFill xmlns:a="http://schemas.openxmlformats.org/drawingml/2006/main">
            <a:srgbClr val="D8DFDC"/>
          </a:solidFill>
          <a:ln xmlns:a="http://schemas.openxmlformats.org/drawingml/2006/main" w="0">
            <a:solidFill>
              <a:srgbClr val="D8DFDC"/>
            </a:solidFill>
            <a:prstDash val="solid"/>
          </a:ln>
        </p:spPr>
      </p:sp>
      <p:sp>
        <p:nvSpPr>
          <p:cNvPr id="45" name="bottom-statement">
            <a:extLst xmlns:a="http://schemas.openxmlformats.org/drawingml/2006/main">
              <a:ext uri="{FF2B5EF4-FFF2-40B4-BE49-F238E27FC236}">
                <a16:creationId xmlns:a16="http://schemas.microsoft.com/office/drawing/2014/main" id="{6CA39D1D-477D-4FBB-A470-F8CAF07E11C1}"/>
              </a:ext>
            </a:extLst>
          </p:cNvPr>
          <p:cNvSpPr>
            <a:spLocks xmlns:a="http://schemas.openxmlformats.org/drawingml/2006/main" noGrp="1"/>
          </p:cNvSpPr>
          <p:nvPr/>
        </p:nvSpPr>
        <p:spPr>
          <a:xfrm xmlns:a="http://schemas.openxmlformats.org/drawingml/2006/main">
            <a:off x="457200" y="5105400"/>
            <a:ext cx="11277600" cy="1028700"/>
          </a:xfrm>
          <a:prstGeom xmlns:a="http://schemas.openxmlformats.org/drawingml/2006/main" prst="rect">
            <a:avLst/>
          </a:prstGeom>
          <a:solidFill xmlns:a="http://schemas.openxmlformats.org/drawingml/2006/main">
            <a:srgbClr val="173F36"/>
          </a:solidFill>
          <a:ln xmlns:a="http://schemas.openxmlformats.org/drawingml/2006/main" w="0">
            <a:solidFill>
              <a:srgbClr val="173F36"/>
            </a:solidFill>
            <a:prstDash val="solid"/>
          </a:ln>
        </p:spPr>
      </p:sp>
      <p:sp>
        <p:nvSpPr>
          <p:cNvPr id="46" name="">
            <a:extLst xmlns:a="http://schemas.openxmlformats.org/drawingml/2006/main">
              <a:ext uri="{FF2B5EF4-FFF2-40B4-BE49-F238E27FC236}">
                <a16:creationId xmlns:a16="http://schemas.microsoft.com/office/drawing/2014/main" id="{0BAF4A69-0122-46BA-ABBA-714D97F15AE9}"/>
              </a:ext>
            </a:extLst>
          </p:cNvPr>
          <p:cNvSpPr>
            <a:spLocks xmlns:a="http://schemas.openxmlformats.org/drawingml/2006/main" noGrp="1"/>
          </p:cNvSpPr>
          <p:nvPr/>
        </p:nvSpPr>
        <p:spPr>
          <a:xfrm xmlns:a="http://schemas.openxmlformats.org/drawingml/2006/main">
            <a:off x="742950" y="5267325"/>
            <a:ext cx="10668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B8D5C8"/>
                </a:solidFill>
                <a:latin typeface="Aptos"/>
                <a:ea typeface="Aptos"/>
                <a:cs typeface="Aptos"/>
              </a:defRPr>
            </a:pPr>
            <a:r>
              <a:rPr sz="1650" b="0">
                <a:solidFill>
                  <a:srgbClr val="B8D5C8"/>
                </a:solidFill>
                <a:latin typeface="Aptos"/>
                <a:ea typeface="Aptos"/>
                <a:cs typeface="Aptos"/>
              </a:rPr>
              <a:t>The challenge is not funding a Project.</a:t>
            </a:r>
          </a:p>
        </p:txBody>
      </p:sp>
      <p:sp>
        <p:nvSpPr>
          <p:cNvPr id="47" name="">
            <a:extLst xmlns:a="http://schemas.openxmlformats.org/drawingml/2006/main">
              <a:ext uri="{FF2B5EF4-FFF2-40B4-BE49-F238E27FC236}">
                <a16:creationId xmlns:a16="http://schemas.microsoft.com/office/drawing/2014/main" id="{1A3192C0-C3F0-40A3-9F96-742A47A26233}"/>
              </a:ext>
            </a:extLst>
          </p:cNvPr>
          <p:cNvSpPr>
            <a:spLocks xmlns:a="http://schemas.openxmlformats.org/drawingml/2006/main" noGrp="1"/>
          </p:cNvSpPr>
          <p:nvPr/>
        </p:nvSpPr>
        <p:spPr>
          <a:xfrm xmlns:a="http://schemas.openxmlformats.org/drawingml/2006/main">
            <a:off x="742950" y="5562600"/>
            <a:ext cx="10668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100" b="1">
                <a:solidFill>
                  <a:srgbClr val="FFFFFF"/>
                </a:solidFill>
                <a:latin typeface="Aptos"/>
                <a:ea typeface="Aptos"/>
                <a:cs typeface="Aptos"/>
              </a:defRPr>
            </a:pPr>
            <a:r>
              <a:rPr sz="2100" b="1">
                <a:solidFill>
                  <a:srgbClr val="FFFFFF"/>
                </a:solidFill>
                <a:latin typeface="Aptos"/>
                <a:ea typeface="Aptos"/>
                <a:cs typeface="Aptos"/>
              </a:rPr>
              <a:t>The challenge is maintaining transparency throughout the investment lifecycle.</a:t>
            </a:r>
          </a:p>
        </p:txBody>
      </p:sp>
    </p:spTree>
    <p:extLst>
      <p:ext uri="{BB962C8B-B14F-4D97-AF65-F5344CB8AC3E}">
        <p14:creationId xmlns:p14="http://schemas.microsoft.com/office/powerpoint/2010/main" val="1682641346"/>
      </p:ext>
    </p:extLst>
  </p:cSld>
</p:sld>
</file>

<file path=ppt/slides/slide3.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 name="top-rule">
            <a:extLst xmlns:a="http://schemas.openxmlformats.org/drawingml/2006/main">
              <a:ext uri="{FF2B5EF4-FFF2-40B4-BE49-F238E27FC236}">
                <a16:creationId xmlns:a16="http://schemas.microsoft.com/office/drawing/2014/main" id="{AEC94E4F-F57F-4E33-8709-201CF8C0712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2E7D5B"/>
          </a:solidFill>
          <a:ln xmlns:a="http://schemas.openxmlformats.org/drawingml/2006/main" w="0">
            <a:solidFill>
              <a:srgbClr val="2E7D5B"/>
            </a:solidFill>
            <a:prstDash val="solid"/>
          </a:ln>
        </p:spPr>
      </p:sp>
      <p:sp>
        <p:nvSpPr>
          <p:cNvPr id="2" name="kicker-marker">
            <a:extLst xmlns:a="http://schemas.openxmlformats.org/drawingml/2006/main">
              <a:ext uri="{FF2B5EF4-FFF2-40B4-BE49-F238E27FC236}">
                <a16:creationId xmlns:a16="http://schemas.microsoft.com/office/drawing/2014/main" id="{A839FBEE-4324-4B78-9D36-6EDDB5F8A235}"/>
              </a:ext>
            </a:extLst>
          </p:cNvPr>
          <p:cNvSpPr>
            <a:spLocks xmlns:a="http://schemas.openxmlformats.org/drawingml/2006/main" noGrp="1"/>
          </p:cNvSpPr>
          <p:nvPr/>
        </p:nvSpPr>
        <p:spPr>
          <a:xfrm xmlns:a="http://schemas.openxmlformats.org/drawingml/2006/main">
            <a:off x="457200" y="304800"/>
            <a:ext cx="285750" cy="19050"/>
          </a:xfrm>
          <a:prstGeom xmlns:a="http://schemas.openxmlformats.org/drawingml/2006/main" prst="rect">
            <a:avLst/>
          </a:prstGeom>
          <a:solidFill xmlns:a="http://schemas.openxmlformats.org/drawingml/2006/main">
            <a:srgbClr val="2E7D5B"/>
          </a:solidFill>
          <a:ln xmlns:a="http://schemas.openxmlformats.org/drawingml/2006/main" w="0">
            <a:solidFill>
              <a:srgbClr val="2E7D5B"/>
            </a:solidFill>
            <a:prstDash val="solid"/>
          </a:ln>
        </p:spPr>
      </p:sp>
      <p:sp>
        <p:nvSpPr>
          <p:cNvPr id="3" name="kicker-label">
            <a:extLst xmlns:a="http://schemas.openxmlformats.org/drawingml/2006/main">
              <a:ext uri="{FF2B5EF4-FFF2-40B4-BE49-F238E27FC236}">
                <a16:creationId xmlns:a16="http://schemas.microsoft.com/office/drawing/2014/main" id="{E8727C17-EDAC-4297-8844-0B9F75D61E37}"/>
              </a:ext>
            </a:extLst>
          </p:cNvPr>
          <p:cNvSpPr>
            <a:spLocks xmlns:a="http://schemas.openxmlformats.org/drawingml/2006/main" noGrp="1"/>
          </p:cNvSpPr>
          <p:nvPr/>
        </p:nvSpPr>
        <p:spPr>
          <a:xfrm xmlns:a="http://schemas.openxmlformats.org/drawingml/2006/main">
            <a:off x="838200" y="190500"/>
            <a:ext cx="4095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2E7D5B"/>
                </a:solidFill>
                <a:latin typeface="Aptos"/>
                <a:ea typeface="Aptos"/>
                <a:cs typeface="Aptos"/>
              </a:defRPr>
            </a:pPr>
            <a:r>
              <a:rPr sz="900" b="1">
                <a:solidFill>
                  <a:srgbClr val="2E7D5B"/>
                </a:solidFill>
                <a:latin typeface="Aptos"/>
                <a:ea typeface="Aptos"/>
                <a:cs typeface="Aptos"/>
              </a:rPr>
              <a:t>THE SOLUTION</a:t>
            </a:r>
          </a:p>
        </p:txBody>
      </p:sp>
      <p:sp>
        <p:nvSpPr>
          <p:cNvPr id="4" name="">
            <a:extLst xmlns:a="http://schemas.openxmlformats.org/drawingml/2006/main">
              <a:ext uri="{FF2B5EF4-FFF2-40B4-BE49-F238E27FC236}">
                <a16:creationId xmlns:a16="http://schemas.microsoft.com/office/drawing/2014/main" id="{E8C434E5-1613-40CA-8919-0C04A1283330}"/>
              </a:ext>
            </a:extLst>
          </p:cNvPr>
          <p:cNvSpPr>
            <a:spLocks xmlns:a="http://schemas.openxmlformats.org/drawingml/2006/main" noGrp="1"/>
          </p:cNvSpPr>
          <p:nvPr/>
        </p:nvSpPr>
        <p:spPr>
          <a:xfrm xmlns:a="http://schemas.openxmlformats.org/drawingml/2006/main">
            <a:off x="457200" y="6505575"/>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0">
                <a:solidFill>
                  <a:srgbClr val="65736F"/>
                </a:solidFill>
                <a:latin typeface="Aptos"/>
                <a:ea typeface="Aptos"/>
                <a:cs typeface="Aptos"/>
              </a:defRPr>
            </a:pPr>
            <a:r>
              <a:rPr sz="750" b="0">
                <a:solidFill>
                  <a:srgbClr val="65736F"/>
                </a:solidFill>
                <a:latin typeface="Aptos"/>
                <a:ea typeface="Aptos"/>
                <a:cs typeface="Aptos"/>
              </a:rPr>
              <a:t>AgriPartners  •  Investor Pitch Deck v1.0</a:t>
            </a:r>
          </a:p>
        </p:txBody>
      </p:sp>
      <p:sp>
        <p:nvSpPr>
          <p:cNvPr id="5" name="">
            <a:extLst xmlns:a="http://schemas.openxmlformats.org/drawingml/2006/main">
              <a:ext uri="{FF2B5EF4-FFF2-40B4-BE49-F238E27FC236}">
                <a16:creationId xmlns:a16="http://schemas.microsoft.com/office/drawing/2014/main" id="{B5F8B521-1216-4006-B99F-822731FBA062}"/>
              </a:ext>
            </a:extLst>
          </p:cNvPr>
          <p:cNvSpPr>
            <a:spLocks xmlns:a="http://schemas.openxmlformats.org/drawingml/2006/main" noGrp="1"/>
          </p:cNvSpPr>
          <p:nvPr/>
        </p:nvSpPr>
        <p:spPr>
          <a:xfrm xmlns:a="http://schemas.openxmlformats.org/drawingml/2006/main">
            <a:off x="11239500" y="6505575"/>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r">
              <a:defRPr sz="750" b="0">
                <a:solidFill>
                  <a:srgbClr val="65736F"/>
                </a:solidFill>
                <a:latin typeface="Aptos"/>
                <a:ea typeface="Aptos"/>
                <a:cs typeface="Aptos"/>
              </a:defRPr>
            </a:pPr>
            <a:r>
              <a:rPr sz="750" b="0">
                <a:solidFill>
                  <a:srgbClr val="65736F"/>
                </a:solidFill>
                <a:latin typeface="Aptos"/>
                <a:ea typeface="Aptos"/>
                <a:cs typeface="Aptos"/>
              </a:rPr>
              <a:t>03</a:t>
            </a:r>
          </a:p>
        </p:txBody>
      </p:sp>
      <p:sp>
        <p:nvSpPr>
          <p:cNvPr id="6" name="">
            <a:extLst xmlns:a="http://schemas.openxmlformats.org/drawingml/2006/main">
              <a:ext uri="{FF2B5EF4-FFF2-40B4-BE49-F238E27FC236}">
                <a16:creationId xmlns:a16="http://schemas.microsoft.com/office/drawing/2014/main" id="{7E8C0EA1-660C-4EC3-B344-A22E6DE54A14}"/>
              </a:ext>
            </a:extLst>
          </p:cNvPr>
          <p:cNvSpPr>
            <a:spLocks xmlns:a="http://schemas.openxmlformats.org/drawingml/2006/main" noGrp="1"/>
          </p:cNvSpPr>
          <p:nvPr/>
        </p:nvSpPr>
        <p:spPr>
          <a:xfrm xmlns:a="http://schemas.openxmlformats.org/drawingml/2006/main">
            <a:off x="457200" y="628650"/>
            <a:ext cx="733425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3300" b="1">
                <a:solidFill>
                  <a:srgbClr val="173F36"/>
                </a:solidFill>
                <a:latin typeface="Aptos"/>
                <a:ea typeface="Aptos"/>
                <a:cs typeface="Aptos"/>
              </a:defRPr>
            </a:pPr>
            <a:r>
              <a:rPr sz="3300" b="1">
                <a:solidFill>
                  <a:srgbClr val="173F36"/>
                </a:solidFill>
                <a:latin typeface="Aptos"/>
                <a:ea typeface="Aptos"/>
                <a:cs typeface="Aptos"/>
              </a:rPr>
              <a:t>One Workflow.</a:t>
            </a:r>
          </a:p>
          <a:p xmlns:a="http://schemas.openxmlformats.org/drawingml/2006/main">
            <a:pPr algn="l">
              <a:defRPr sz="3300" b="1">
                <a:solidFill>
                  <a:srgbClr val="173F36"/>
                </a:solidFill>
                <a:latin typeface="Aptos"/>
                <a:ea typeface="Aptos"/>
                <a:cs typeface="Aptos"/>
              </a:defRPr>
            </a:pPr>
            <a:r>
              <a:rPr sz="3300" b="1">
                <a:solidFill>
                  <a:srgbClr val="173F36"/>
                </a:solidFill>
                <a:latin typeface="Aptos"/>
                <a:ea typeface="Aptos"/>
                <a:cs typeface="Aptos"/>
              </a:rPr>
              <a:t>Three Participants. Complete Visibility.</a:t>
            </a:r>
          </a:p>
        </p:txBody>
      </p:sp>
      <p:sp>
        <p:nvSpPr>
          <p:cNvPr id="7" name="">
            <a:extLst xmlns:a="http://schemas.openxmlformats.org/drawingml/2006/main">
              <a:ext uri="{FF2B5EF4-FFF2-40B4-BE49-F238E27FC236}">
                <a16:creationId xmlns:a16="http://schemas.microsoft.com/office/drawing/2014/main" id="{D88D0B6C-D0DF-4278-B926-4472B08687AE}"/>
              </a:ext>
            </a:extLst>
          </p:cNvPr>
          <p:cNvSpPr>
            <a:spLocks xmlns:a="http://schemas.openxmlformats.org/drawingml/2006/main" noGrp="1"/>
          </p:cNvSpPr>
          <p:nvPr/>
        </p:nvSpPr>
        <p:spPr>
          <a:xfrm xmlns:a="http://schemas.openxmlformats.org/drawingml/2006/main">
            <a:off x="8172450" y="800100"/>
            <a:ext cx="31051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350" b="0">
                <a:solidFill>
                  <a:srgbClr val="65736F"/>
                </a:solidFill>
                <a:latin typeface="Aptos"/>
                <a:ea typeface="Aptos"/>
                <a:cs typeface="Aptos"/>
              </a:defRPr>
            </a:pPr>
            <a:r>
              <a:rPr sz="1350" b="0">
                <a:solidFill>
                  <a:srgbClr val="65736F"/>
                </a:solidFill>
                <a:latin typeface="Aptos"/>
                <a:ea typeface="Aptos"/>
                <a:cs typeface="Aptos"/>
              </a:rPr>
              <a:t>A Project-centric operating model with shared context and role-appropriate visibility.</a:t>
            </a:r>
          </a:p>
        </p:txBody>
      </p:sp>
      <p:sp>
        <p:nvSpPr>
          <p:cNvPr id="8" name="">
            <a:extLst xmlns:a="http://schemas.openxmlformats.org/drawingml/2006/main">
              <a:ext uri="{FF2B5EF4-FFF2-40B4-BE49-F238E27FC236}">
                <a16:creationId xmlns:a16="http://schemas.microsoft.com/office/drawing/2014/main" id="{DC13AA4D-62AC-45ED-94DD-FAA111F3A01E}"/>
              </a:ext>
            </a:extLst>
          </p:cNvPr>
          <p:cNvSpPr>
            <a:spLocks xmlns:a="http://schemas.openxmlformats.org/drawingml/2006/main" noGrp="1"/>
          </p:cNvSpPr>
          <p:nvPr/>
        </p:nvSpPr>
        <p:spPr>
          <a:xfrm xmlns:a="http://schemas.openxmlformats.org/drawingml/2006/main">
            <a:off x="4171950" y="1847850"/>
            <a:ext cx="3848100" cy="666750"/>
          </a:xfrm>
          <a:prstGeom xmlns:a="http://schemas.openxmlformats.org/drawingml/2006/main" prst="rect">
            <a:avLst/>
          </a:prstGeom>
          <a:solidFill xmlns:a="http://schemas.openxmlformats.org/drawingml/2006/main">
            <a:srgbClr val="E8F0F5"/>
          </a:solidFill>
          <a:ln xmlns:a="http://schemas.openxmlformats.org/drawingml/2006/main" w="9525">
            <a:solidFill>
              <a:srgbClr val="C8D6D0"/>
            </a:solidFill>
            <a:prstDash val="solid"/>
          </a:ln>
        </p:spPr>
      </p:sp>
      <p:sp>
        <p:nvSpPr>
          <p:cNvPr id="9" name="">
            <a:extLst xmlns:a="http://schemas.openxmlformats.org/drawingml/2006/main">
              <a:ext uri="{FF2B5EF4-FFF2-40B4-BE49-F238E27FC236}">
                <a16:creationId xmlns:a16="http://schemas.microsoft.com/office/drawing/2014/main" id="{CC341347-7C06-432A-AEC8-A16100B2CE00}"/>
              </a:ext>
            </a:extLst>
          </p:cNvPr>
          <p:cNvSpPr>
            <a:spLocks xmlns:a="http://schemas.openxmlformats.org/drawingml/2006/main" noGrp="1"/>
          </p:cNvSpPr>
          <p:nvPr/>
        </p:nvSpPr>
        <p:spPr>
          <a:xfrm xmlns:a="http://schemas.openxmlformats.org/drawingml/2006/main">
            <a:off x="4324350" y="1924050"/>
            <a:ext cx="35433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173F36"/>
                </a:solidFill>
                <a:latin typeface="Aptos"/>
                <a:ea typeface="Aptos"/>
                <a:cs typeface="Aptos"/>
              </a:defRPr>
            </a:pPr>
            <a:r>
              <a:rPr sz="1800" b="1">
                <a:solidFill>
                  <a:srgbClr val="173F36"/>
                </a:solidFill>
                <a:latin typeface="Aptos"/>
                <a:ea typeface="Aptos"/>
                <a:cs typeface="Aptos"/>
              </a:rPr>
              <a:t>Investor</a:t>
            </a:r>
          </a:p>
        </p:txBody>
      </p:sp>
      <p:sp>
        <p:nvSpPr>
          <p:cNvPr id="10" name="">
            <a:extLst xmlns:a="http://schemas.openxmlformats.org/drawingml/2006/main">
              <a:ext uri="{FF2B5EF4-FFF2-40B4-BE49-F238E27FC236}">
                <a16:creationId xmlns:a16="http://schemas.microsoft.com/office/drawing/2014/main" id="{BCB30A72-B6C5-4D71-B7FE-16A6664282D3}"/>
              </a:ext>
            </a:extLst>
          </p:cNvPr>
          <p:cNvSpPr>
            <a:spLocks xmlns:a="http://schemas.openxmlformats.org/drawingml/2006/main" noGrp="1"/>
          </p:cNvSpPr>
          <p:nvPr/>
        </p:nvSpPr>
        <p:spPr>
          <a:xfrm xmlns:a="http://schemas.openxmlformats.org/drawingml/2006/main">
            <a:off x="4381500" y="2257425"/>
            <a:ext cx="3429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0">
                <a:solidFill>
                  <a:srgbClr val="65736F"/>
                </a:solidFill>
                <a:latin typeface="Aptos"/>
                <a:ea typeface="Aptos"/>
                <a:cs typeface="Aptos"/>
              </a:defRPr>
            </a:pPr>
            <a:r>
              <a:rPr sz="825" b="0">
                <a:solidFill>
                  <a:srgbClr val="65736F"/>
                </a:solidFill>
                <a:latin typeface="Aptos"/>
                <a:ea typeface="Aptos"/>
                <a:cs typeface="Aptos"/>
              </a:rPr>
              <a:t>Reviews approved Project information</a:t>
            </a:r>
          </a:p>
        </p:txBody>
      </p:sp>
      <p:sp>
        <p:nvSpPr>
          <p:cNvPr id="11" name="">
            <a:extLst xmlns:a="http://schemas.openxmlformats.org/drawingml/2006/main">
              <a:ext uri="{FF2B5EF4-FFF2-40B4-BE49-F238E27FC236}">
                <a16:creationId xmlns:a16="http://schemas.microsoft.com/office/drawing/2014/main" id="{7E4EBABD-7EE6-4CAD-AD32-1AF59B169519}"/>
              </a:ext>
            </a:extLst>
          </p:cNvPr>
          <p:cNvSpPr>
            <a:spLocks xmlns:a="http://schemas.openxmlformats.org/drawingml/2006/main" noGrp="1"/>
          </p:cNvSpPr>
          <p:nvPr/>
        </p:nvSpPr>
        <p:spPr>
          <a:xfrm xmlns:a="http://schemas.openxmlformats.org/drawingml/2006/main">
            <a:off x="4171950" y="2876550"/>
            <a:ext cx="3848100" cy="666750"/>
          </a:xfrm>
          <a:prstGeom xmlns:a="http://schemas.openxmlformats.org/drawingml/2006/main" prst="rect">
            <a:avLst/>
          </a:prstGeom>
          <a:solidFill xmlns:a="http://schemas.openxmlformats.org/drawingml/2006/main">
            <a:srgbClr val="173F36"/>
          </a:solidFill>
          <a:ln xmlns:a="http://schemas.openxmlformats.org/drawingml/2006/main" w="9525">
            <a:solidFill>
              <a:srgbClr val="173F36"/>
            </a:solidFill>
            <a:prstDash val="solid"/>
          </a:ln>
        </p:spPr>
      </p:sp>
      <p:sp>
        <p:nvSpPr>
          <p:cNvPr id="12" name="">
            <a:extLst xmlns:a="http://schemas.openxmlformats.org/drawingml/2006/main">
              <a:ext uri="{FF2B5EF4-FFF2-40B4-BE49-F238E27FC236}">
                <a16:creationId xmlns:a16="http://schemas.microsoft.com/office/drawing/2014/main" id="{316DB094-24FF-4B8C-8583-6711F78BB59B}"/>
              </a:ext>
            </a:extLst>
          </p:cNvPr>
          <p:cNvSpPr>
            <a:spLocks xmlns:a="http://schemas.openxmlformats.org/drawingml/2006/main" noGrp="1"/>
          </p:cNvSpPr>
          <p:nvPr/>
        </p:nvSpPr>
        <p:spPr>
          <a:xfrm xmlns:a="http://schemas.openxmlformats.org/drawingml/2006/main">
            <a:off x="4324350" y="2952750"/>
            <a:ext cx="35433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ptos"/>
                <a:ea typeface="Aptos"/>
                <a:cs typeface="Aptos"/>
              </a:defRPr>
            </a:pPr>
            <a:r>
              <a:rPr sz="1800" b="1">
                <a:solidFill>
                  <a:srgbClr val="FFFFFF"/>
                </a:solidFill>
                <a:latin typeface="Aptos"/>
                <a:ea typeface="Aptos"/>
                <a:cs typeface="Aptos"/>
              </a:rPr>
              <a:t>AgriPartners</a:t>
            </a:r>
          </a:p>
        </p:txBody>
      </p:sp>
      <p:sp>
        <p:nvSpPr>
          <p:cNvPr id="13" name="">
            <a:extLst xmlns:a="http://schemas.openxmlformats.org/drawingml/2006/main">
              <a:ext uri="{FF2B5EF4-FFF2-40B4-BE49-F238E27FC236}">
                <a16:creationId xmlns:a16="http://schemas.microsoft.com/office/drawing/2014/main" id="{C47805EA-1283-4921-A88B-BD44C90CBA03}"/>
              </a:ext>
            </a:extLst>
          </p:cNvPr>
          <p:cNvSpPr>
            <a:spLocks xmlns:a="http://schemas.openxmlformats.org/drawingml/2006/main" noGrp="1"/>
          </p:cNvSpPr>
          <p:nvPr/>
        </p:nvSpPr>
        <p:spPr>
          <a:xfrm xmlns:a="http://schemas.openxmlformats.org/drawingml/2006/main">
            <a:off x="4381500" y="3286125"/>
            <a:ext cx="3429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0">
                <a:solidFill>
                  <a:srgbClr val="CBE2D8"/>
                </a:solidFill>
                <a:latin typeface="Aptos"/>
                <a:ea typeface="Aptos"/>
                <a:cs typeface="Aptos"/>
              </a:defRPr>
            </a:pPr>
            <a:r>
              <a:rPr sz="825" b="0">
                <a:solidFill>
                  <a:srgbClr val="CBE2D8"/>
                </a:solidFill>
                <a:latin typeface="Aptos"/>
                <a:ea typeface="Aptos"/>
                <a:cs typeface="Aptos"/>
              </a:rPr>
              <a:t>Project Operator and workflow coordinator</a:t>
            </a:r>
          </a:p>
        </p:txBody>
      </p:sp>
      <p:sp>
        <p:nvSpPr>
          <p:cNvPr id="14" name="">
            <a:extLst xmlns:a="http://schemas.openxmlformats.org/drawingml/2006/main">
              <a:ext uri="{FF2B5EF4-FFF2-40B4-BE49-F238E27FC236}">
                <a16:creationId xmlns:a16="http://schemas.microsoft.com/office/drawing/2014/main" id="{9CC8B8B9-1647-4246-8D32-C9F7ADCC082F}"/>
              </a:ext>
            </a:extLst>
          </p:cNvPr>
          <p:cNvSpPr>
            <a:spLocks xmlns:a="http://schemas.openxmlformats.org/drawingml/2006/main" noGrp="1"/>
          </p:cNvSpPr>
          <p:nvPr/>
        </p:nvSpPr>
        <p:spPr>
          <a:xfrm xmlns:a="http://schemas.openxmlformats.org/drawingml/2006/main">
            <a:off x="4171950" y="3905250"/>
            <a:ext cx="3848100" cy="666750"/>
          </a:xfrm>
          <a:prstGeom xmlns:a="http://schemas.openxmlformats.org/drawingml/2006/main" prst="rect">
            <a:avLst/>
          </a:prstGeom>
          <a:solidFill xmlns:a="http://schemas.openxmlformats.org/drawingml/2006/main">
            <a:srgbClr val="EAF3EE"/>
          </a:solidFill>
          <a:ln xmlns:a="http://schemas.openxmlformats.org/drawingml/2006/main" w="9525">
            <a:solidFill>
              <a:srgbClr val="C8D6D0"/>
            </a:solidFill>
            <a:prstDash val="solid"/>
          </a:ln>
        </p:spPr>
      </p:sp>
      <p:sp>
        <p:nvSpPr>
          <p:cNvPr id="15" name="">
            <a:extLst xmlns:a="http://schemas.openxmlformats.org/drawingml/2006/main">
              <a:ext uri="{FF2B5EF4-FFF2-40B4-BE49-F238E27FC236}">
                <a16:creationId xmlns:a16="http://schemas.microsoft.com/office/drawing/2014/main" id="{3AB792BD-7760-44F4-BD45-F1180399AA91}"/>
              </a:ext>
            </a:extLst>
          </p:cNvPr>
          <p:cNvSpPr>
            <a:spLocks xmlns:a="http://schemas.openxmlformats.org/drawingml/2006/main" noGrp="1"/>
          </p:cNvSpPr>
          <p:nvPr/>
        </p:nvSpPr>
        <p:spPr>
          <a:xfrm xmlns:a="http://schemas.openxmlformats.org/drawingml/2006/main">
            <a:off x="4324350" y="3981450"/>
            <a:ext cx="35433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173F36"/>
                </a:solidFill>
                <a:latin typeface="Aptos"/>
                <a:ea typeface="Aptos"/>
                <a:cs typeface="Aptos"/>
              </a:defRPr>
            </a:pPr>
            <a:r>
              <a:rPr sz="1800" b="1">
                <a:solidFill>
                  <a:srgbClr val="173F36"/>
                </a:solidFill>
                <a:latin typeface="Aptos"/>
                <a:ea typeface="Aptos"/>
                <a:cs typeface="Aptos"/>
              </a:rPr>
              <a:t>Farmer</a:t>
            </a:r>
          </a:p>
        </p:txBody>
      </p:sp>
      <p:sp>
        <p:nvSpPr>
          <p:cNvPr id="16" name="">
            <a:extLst xmlns:a="http://schemas.openxmlformats.org/drawingml/2006/main">
              <a:ext uri="{FF2B5EF4-FFF2-40B4-BE49-F238E27FC236}">
                <a16:creationId xmlns:a16="http://schemas.microsoft.com/office/drawing/2014/main" id="{7998B2AC-16ED-4351-B6E3-D50424312E50}"/>
              </a:ext>
            </a:extLst>
          </p:cNvPr>
          <p:cNvSpPr>
            <a:spLocks xmlns:a="http://schemas.openxmlformats.org/drawingml/2006/main" noGrp="1"/>
          </p:cNvSpPr>
          <p:nvPr/>
        </p:nvSpPr>
        <p:spPr>
          <a:xfrm xmlns:a="http://schemas.openxmlformats.org/drawingml/2006/main">
            <a:off x="4381500" y="4314825"/>
            <a:ext cx="3429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0">
                <a:solidFill>
                  <a:srgbClr val="65736F"/>
                </a:solidFill>
                <a:latin typeface="Aptos"/>
                <a:ea typeface="Aptos"/>
                <a:cs typeface="Aptos"/>
              </a:defRPr>
            </a:pPr>
            <a:r>
              <a:rPr sz="825" b="0">
                <a:solidFill>
                  <a:srgbClr val="65736F"/>
                </a:solidFill>
                <a:latin typeface="Aptos"/>
                <a:ea typeface="Aptos"/>
                <a:cs typeface="Aptos"/>
              </a:rPr>
              <a:t>Operates and submits Project evidence</a:t>
            </a:r>
          </a:p>
        </p:txBody>
      </p:sp>
      <p:sp>
        <p:nvSpPr>
          <p:cNvPr id="17" name="">
            <a:extLst xmlns:a="http://schemas.openxmlformats.org/drawingml/2006/main">
              <a:ext uri="{FF2B5EF4-FFF2-40B4-BE49-F238E27FC236}">
                <a16:creationId xmlns:a16="http://schemas.microsoft.com/office/drawing/2014/main" id="{E0872527-57AC-4168-B1D1-9FEB5D03C96E}"/>
              </a:ext>
            </a:extLst>
          </p:cNvPr>
          <p:cNvSpPr>
            <a:spLocks xmlns:a="http://schemas.openxmlformats.org/drawingml/2006/main" noGrp="1"/>
          </p:cNvSpPr>
          <p:nvPr/>
        </p:nvSpPr>
        <p:spPr>
          <a:xfrm xmlns:a="http://schemas.openxmlformats.org/drawingml/2006/main">
            <a:off x="6038850" y="2524125"/>
            <a:ext cx="114300" cy="266700"/>
          </a:xfrm>
          <a:prstGeom xmlns:a="http://schemas.openxmlformats.org/drawingml/2006/main" prst="downArrow">
            <a:avLst/>
          </a:prstGeom>
          <a:solidFill xmlns:a="http://schemas.openxmlformats.org/drawingml/2006/main">
            <a:srgbClr val="2E7D5B"/>
          </a:solidFill>
          <a:ln xmlns:a="http://schemas.openxmlformats.org/drawingml/2006/main" w="0">
            <a:solidFill>
              <a:srgbClr val="2E7D5B"/>
            </a:solidFill>
            <a:prstDash val="solid"/>
          </a:ln>
        </p:spPr>
      </p:sp>
      <p:sp>
        <p:nvSpPr>
          <p:cNvPr id="18" name="">
            <a:extLst xmlns:a="http://schemas.openxmlformats.org/drawingml/2006/main">
              <a:ext uri="{FF2B5EF4-FFF2-40B4-BE49-F238E27FC236}">
                <a16:creationId xmlns:a16="http://schemas.microsoft.com/office/drawing/2014/main" id="{632B41DC-62D8-450B-91BF-950E3A149561}"/>
              </a:ext>
            </a:extLst>
          </p:cNvPr>
          <p:cNvSpPr>
            <a:spLocks xmlns:a="http://schemas.openxmlformats.org/drawingml/2006/main" noGrp="1"/>
          </p:cNvSpPr>
          <p:nvPr/>
        </p:nvSpPr>
        <p:spPr>
          <a:xfrm xmlns:a="http://schemas.openxmlformats.org/drawingml/2006/main">
            <a:off x="6038850" y="3552825"/>
            <a:ext cx="114300" cy="266700"/>
          </a:xfrm>
          <a:prstGeom xmlns:a="http://schemas.openxmlformats.org/drawingml/2006/main" prst="downArrow">
            <a:avLst/>
          </a:prstGeom>
          <a:solidFill xmlns:a="http://schemas.openxmlformats.org/drawingml/2006/main">
            <a:srgbClr val="2E7D5B"/>
          </a:solidFill>
          <a:ln xmlns:a="http://schemas.openxmlformats.org/drawingml/2006/main" w="0">
            <a:solidFill>
              <a:srgbClr val="2E7D5B"/>
            </a:solidFill>
            <a:prstDash val="solid"/>
          </a:ln>
        </p:spPr>
      </p:sp>
      <p:sp>
        <p:nvSpPr>
          <p:cNvPr id="19" name="">
            <a:extLst xmlns:a="http://schemas.openxmlformats.org/drawingml/2006/main">
              <a:ext uri="{FF2B5EF4-FFF2-40B4-BE49-F238E27FC236}">
                <a16:creationId xmlns:a16="http://schemas.microsoft.com/office/drawing/2014/main" id="{0776C210-94C3-45AE-ABBC-2868F9A2182A}"/>
              </a:ext>
            </a:extLst>
          </p:cNvPr>
          <p:cNvSpPr>
            <a:spLocks xmlns:a="http://schemas.openxmlformats.org/drawingml/2006/main" noGrp="1"/>
          </p:cNvSpPr>
          <p:nvPr/>
        </p:nvSpPr>
        <p:spPr>
          <a:xfrm xmlns:a="http://schemas.openxmlformats.org/drawingml/2006/main">
            <a:off x="8858250" y="2667000"/>
            <a:ext cx="2247900" cy="685800"/>
          </a:xfrm>
          <a:prstGeom xmlns:a="http://schemas.openxmlformats.org/drawingml/2006/main" prst="rect">
            <a:avLst/>
          </a:prstGeom>
          <a:solidFill xmlns:a="http://schemas.openxmlformats.org/drawingml/2006/main">
            <a:srgbClr val="FFFFFF"/>
          </a:solidFill>
          <a:ln xmlns:a="http://schemas.openxmlformats.org/drawingml/2006/main" w="19050">
            <a:solidFill>
              <a:srgbClr val="2E7D5B"/>
            </a:solidFill>
            <a:prstDash val="solid"/>
          </a:ln>
        </p:spPr>
      </p:sp>
      <p:sp>
        <p:nvSpPr>
          <p:cNvPr id="20" name="">
            <a:extLst xmlns:a="http://schemas.openxmlformats.org/drawingml/2006/main">
              <a:ext uri="{FF2B5EF4-FFF2-40B4-BE49-F238E27FC236}">
                <a16:creationId xmlns:a16="http://schemas.microsoft.com/office/drawing/2014/main" id="{426E59F3-1D91-419A-A4AF-BE76BDFE7167}"/>
              </a:ext>
            </a:extLst>
          </p:cNvPr>
          <p:cNvSpPr>
            <a:spLocks xmlns:a="http://schemas.openxmlformats.org/drawingml/2006/main" noGrp="1"/>
          </p:cNvSpPr>
          <p:nvPr/>
        </p:nvSpPr>
        <p:spPr>
          <a:xfrm xmlns:a="http://schemas.openxmlformats.org/drawingml/2006/main">
            <a:off x="8991600" y="2752725"/>
            <a:ext cx="1981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173F36"/>
                </a:solidFill>
                <a:latin typeface="Aptos"/>
                <a:ea typeface="Aptos"/>
                <a:cs typeface="Aptos"/>
              </a:defRPr>
            </a:pPr>
            <a:r>
              <a:rPr sz="1650" b="1">
                <a:solidFill>
                  <a:srgbClr val="173F36"/>
                </a:solidFill>
                <a:latin typeface="Aptos"/>
                <a:ea typeface="Aptos"/>
                <a:cs typeface="Aptos"/>
              </a:rPr>
              <a:t>Operator</a:t>
            </a:r>
          </a:p>
        </p:txBody>
      </p:sp>
      <p:sp>
        <p:nvSpPr>
          <p:cNvPr id="21" name="">
            <a:extLst xmlns:a="http://schemas.openxmlformats.org/drawingml/2006/main">
              <a:ext uri="{FF2B5EF4-FFF2-40B4-BE49-F238E27FC236}">
                <a16:creationId xmlns:a16="http://schemas.microsoft.com/office/drawing/2014/main" id="{32352B2A-D9E8-4503-AF75-BB5327F5D4BE}"/>
              </a:ext>
            </a:extLst>
          </p:cNvPr>
          <p:cNvSpPr>
            <a:spLocks xmlns:a="http://schemas.openxmlformats.org/drawingml/2006/main" noGrp="1"/>
          </p:cNvSpPr>
          <p:nvPr/>
        </p:nvSpPr>
        <p:spPr>
          <a:xfrm xmlns:a="http://schemas.openxmlformats.org/drawingml/2006/main">
            <a:off x="9029700" y="3086100"/>
            <a:ext cx="1905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750" b="0">
                <a:solidFill>
                  <a:srgbClr val="65736F"/>
                </a:solidFill>
                <a:latin typeface="Aptos"/>
                <a:ea typeface="Aptos"/>
                <a:cs typeface="Aptos"/>
              </a:defRPr>
            </a:pPr>
            <a:r>
              <a:rPr sz="750" b="0">
                <a:solidFill>
                  <a:srgbClr val="65736F"/>
                </a:solidFill>
                <a:latin typeface="Aptos"/>
                <a:ea typeface="Aptos"/>
                <a:cs typeface="Aptos"/>
              </a:rPr>
              <a:t>Controls and reviews workflow state</a:t>
            </a:r>
          </a:p>
        </p:txBody>
      </p:sp>
      <p:sp>
        <p:nvSpPr>
          <p:cNvPr id="22" name="">
            <a:extLst xmlns:a="http://schemas.openxmlformats.org/drawingml/2006/main">
              <a:ext uri="{FF2B5EF4-FFF2-40B4-BE49-F238E27FC236}">
                <a16:creationId xmlns:a16="http://schemas.microsoft.com/office/drawing/2014/main" id="{05445D35-8ADE-485E-A158-B70B20D8AC54}"/>
              </a:ext>
            </a:extLst>
          </p:cNvPr>
          <p:cNvSpPr>
            <a:spLocks xmlns:a="http://schemas.openxmlformats.org/drawingml/2006/main" noGrp="1"/>
          </p:cNvSpPr>
          <p:nvPr/>
        </p:nvSpPr>
        <p:spPr>
          <a:xfrm xmlns:a="http://schemas.openxmlformats.org/drawingml/2006/main">
            <a:off x="8020050" y="2914650"/>
            <a:ext cx="838200" cy="171450"/>
          </a:xfrm>
          <a:prstGeom xmlns:a="http://schemas.openxmlformats.org/drawingml/2006/main" prst="rightArrow">
            <a:avLst/>
          </a:prstGeom>
          <a:solidFill xmlns:a="http://schemas.openxmlformats.org/drawingml/2006/main">
            <a:srgbClr val="2E7D5B"/>
          </a:solidFill>
          <a:ln xmlns:a="http://schemas.openxmlformats.org/drawingml/2006/main" w="0">
            <a:solidFill>
              <a:srgbClr val="2E7D5B"/>
            </a:solidFill>
            <a:prstDash val="solid"/>
          </a:ln>
        </p:spPr>
      </p:sp>
      <p:sp>
        <p:nvSpPr>
          <p:cNvPr id="23" name="">
            <a:extLst xmlns:a="http://schemas.openxmlformats.org/drawingml/2006/main">
              <a:ext uri="{FF2B5EF4-FFF2-40B4-BE49-F238E27FC236}">
                <a16:creationId xmlns:a16="http://schemas.microsoft.com/office/drawing/2014/main" id="{60B88CEB-12E3-4C3F-8CD2-B29971F309E3}"/>
              </a:ext>
            </a:extLst>
          </p:cNvPr>
          <p:cNvSpPr>
            <a:spLocks xmlns:a="http://schemas.openxmlformats.org/drawingml/2006/main" noGrp="1"/>
          </p:cNvSpPr>
          <p:nvPr/>
        </p:nvSpPr>
        <p:spPr>
          <a:xfrm xmlns:a="http://schemas.openxmlformats.org/drawingml/2006/main">
            <a:off x="457200" y="5105400"/>
            <a:ext cx="2038350" cy="457200"/>
          </a:xfrm>
          <a:prstGeom xmlns:a="http://schemas.openxmlformats.org/drawingml/2006/main" prst="rect">
            <a:avLst/>
          </a:prstGeom>
          <a:solidFill xmlns:a="http://schemas.openxmlformats.org/drawingml/2006/main">
            <a:srgbClr val="EAF3EE"/>
          </a:solidFill>
          <a:ln xmlns:a="http://schemas.openxmlformats.org/drawingml/2006/main" w="9525">
            <a:solidFill>
              <a:srgbClr val="C8D6D0"/>
            </a:solidFill>
            <a:prstDash val="solid"/>
          </a:ln>
        </p:spPr>
        <p:txBody>
          <a:bodyPr xmlns:a="http://schemas.openxmlformats.org/drawingml/2006/main" lIns="95250" tIns="76200" rIns="95250" bIns="76200" anchor="ctr"/>
          <a:lstStyle xmlns:a="http://schemas.openxmlformats.org/drawingml/2006/main"/>
          <a:p xmlns:a="http://schemas.openxmlformats.org/drawingml/2006/main">
            <a:pPr algn="ctr">
              <a:defRPr sz="1200" b="1">
                <a:solidFill>
                  <a:srgbClr val="173F36"/>
                </a:solidFill>
                <a:latin typeface="Aptos"/>
                <a:ea typeface="Aptos"/>
                <a:cs typeface="Aptos"/>
              </a:defRPr>
            </a:pPr>
            <a:r>
              <a:rPr sz="1200" b="1">
                <a:solidFill>
                  <a:srgbClr val="173F36"/>
                </a:solidFill>
                <a:latin typeface="Aptos"/>
                <a:ea typeface="Aptos"/>
                <a:cs typeface="Aptos"/>
              </a:rPr>
              <a:t>Project Reports</a:t>
            </a:r>
          </a:p>
        </p:txBody>
      </p:sp>
      <p:sp>
        <p:nvSpPr>
          <p:cNvPr id="24" name="">
            <a:extLst xmlns:a="http://schemas.openxmlformats.org/drawingml/2006/main">
              <a:ext uri="{FF2B5EF4-FFF2-40B4-BE49-F238E27FC236}">
                <a16:creationId xmlns:a16="http://schemas.microsoft.com/office/drawing/2014/main" id="{96426A07-FF9C-4CDE-8934-34B4DF664D3F}"/>
              </a:ext>
            </a:extLst>
          </p:cNvPr>
          <p:cNvSpPr>
            <a:spLocks xmlns:a="http://schemas.openxmlformats.org/drawingml/2006/main" noGrp="1"/>
          </p:cNvSpPr>
          <p:nvPr/>
        </p:nvSpPr>
        <p:spPr>
          <a:xfrm xmlns:a="http://schemas.openxmlformats.org/drawingml/2006/main">
            <a:off x="2724150" y="5105400"/>
            <a:ext cx="2038350" cy="457200"/>
          </a:xfrm>
          <a:prstGeom xmlns:a="http://schemas.openxmlformats.org/drawingml/2006/main" prst="rect">
            <a:avLst/>
          </a:prstGeom>
          <a:solidFill xmlns:a="http://schemas.openxmlformats.org/drawingml/2006/main">
            <a:srgbClr val="E8F0F5"/>
          </a:solidFill>
          <a:ln xmlns:a="http://schemas.openxmlformats.org/drawingml/2006/main" w="9525">
            <a:solidFill>
              <a:srgbClr val="C8D6D0"/>
            </a:solidFill>
            <a:prstDash val="solid"/>
          </a:ln>
        </p:spPr>
        <p:txBody>
          <a:bodyPr xmlns:a="http://schemas.openxmlformats.org/drawingml/2006/main" lIns="95250" tIns="76200" rIns="95250" bIns="76200" anchor="ctr"/>
          <a:lstStyle xmlns:a="http://schemas.openxmlformats.org/drawingml/2006/main"/>
          <a:p xmlns:a="http://schemas.openxmlformats.org/drawingml/2006/main">
            <a:pPr algn="ctr">
              <a:defRPr sz="1200" b="1">
                <a:solidFill>
                  <a:srgbClr val="173F36"/>
                </a:solidFill>
                <a:latin typeface="Aptos"/>
                <a:ea typeface="Aptos"/>
                <a:cs typeface="Aptos"/>
              </a:defRPr>
            </a:pPr>
            <a:r>
              <a:rPr sz="1200" b="1">
                <a:solidFill>
                  <a:srgbClr val="173F36"/>
                </a:solidFill>
                <a:latin typeface="Aptos"/>
                <a:ea typeface="Aptos"/>
                <a:cs typeface="Aptos"/>
              </a:rPr>
              <a:t>Project Documents</a:t>
            </a:r>
          </a:p>
        </p:txBody>
      </p:sp>
      <p:sp>
        <p:nvSpPr>
          <p:cNvPr id="25" name="">
            <a:extLst xmlns:a="http://schemas.openxmlformats.org/drawingml/2006/main">
              <a:ext uri="{FF2B5EF4-FFF2-40B4-BE49-F238E27FC236}">
                <a16:creationId xmlns:a16="http://schemas.microsoft.com/office/drawing/2014/main" id="{E7F85461-58A4-4D86-8B04-72915690DAA1}"/>
              </a:ext>
            </a:extLst>
          </p:cNvPr>
          <p:cNvSpPr>
            <a:spLocks xmlns:a="http://schemas.openxmlformats.org/drawingml/2006/main" noGrp="1"/>
          </p:cNvSpPr>
          <p:nvPr/>
        </p:nvSpPr>
        <p:spPr>
          <a:xfrm xmlns:a="http://schemas.openxmlformats.org/drawingml/2006/main">
            <a:off x="4991100" y="5105400"/>
            <a:ext cx="2038350" cy="457200"/>
          </a:xfrm>
          <a:prstGeom xmlns:a="http://schemas.openxmlformats.org/drawingml/2006/main" prst="rect">
            <a:avLst/>
          </a:prstGeom>
          <a:solidFill xmlns:a="http://schemas.openxmlformats.org/drawingml/2006/main">
            <a:srgbClr val="EAF3EE"/>
          </a:solidFill>
          <a:ln xmlns:a="http://schemas.openxmlformats.org/drawingml/2006/main" w="9525">
            <a:solidFill>
              <a:srgbClr val="C8D6D0"/>
            </a:solidFill>
            <a:prstDash val="solid"/>
          </a:ln>
        </p:spPr>
        <p:txBody>
          <a:bodyPr xmlns:a="http://schemas.openxmlformats.org/drawingml/2006/main" lIns="95250" tIns="76200" rIns="95250" bIns="76200" anchor="ctr"/>
          <a:lstStyle xmlns:a="http://schemas.openxmlformats.org/drawingml/2006/main"/>
          <a:p xmlns:a="http://schemas.openxmlformats.org/drawingml/2006/main">
            <a:pPr algn="ctr">
              <a:defRPr sz="1200" b="1">
                <a:solidFill>
                  <a:srgbClr val="173F36"/>
                </a:solidFill>
                <a:latin typeface="Aptos"/>
                <a:ea typeface="Aptos"/>
                <a:cs typeface="Aptos"/>
              </a:defRPr>
            </a:pPr>
            <a:r>
              <a:rPr sz="1200" b="1">
                <a:solidFill>
                  <a:srgbClr val="173F36"/>
                </a:solidFill>
                <a:latin typeface="Aptos"/>
                <a:ea typeface="Aptos"/>
                <a:cs typeface="Aptos"/>
              </a:rPr>
              <a:t>Treasury</a:t>
            </a:r>
          </a:p>
        </p:txBody>
      </p:sp>
      <p:sp>
        <p:nvSpPr>
          <p:cNvPr id="26" name="">
            <a:extLst xmlns:a="http://schemas.openxmlformats.org/drawingml/2006/main">
              <a:ext uri="{FF2B5EF4-FFF2-40B4-BE49-F238E27FC236}">
                <a16:creationId xmlns:a16="http://schemas.microsoft.com/office/drawing/2014/main" id="{D120554D-B3E9-4268-9746-204D0CDD0576}"/>
              </a:ext>
            </a:extLst>
          </p:cNvPr>
          <p:cNvSpPr>
            <a:spLocks xmlns:a="http://schemas.openxmlformats.org/drawingml/2006/main" noGrp="1"/>
          </p:cNvSpPr>
          <p:nvPr/>
        </p:nvSpPr>
        <p:spPr>
          <a:xfrm xmlns:a="http://schemas.openxmlformats.org/drawingml/2006/main">
            <a:off x="7258050" y="5105400"/>
            <a:ext cx="2038350" cy="457200"/>
          </a:xfrm>
          <a:prstGeom xmlns:a="http://schemas.openxmlformats.org/drawingml/2006/main" prst="rect">
            <a:avLst/>
          </a:prstGeom>
          <a:solidFill xmlns:a="http://schemas.openxmlformats.org/drawingml/2006/main">
            <a:srgbClr val="E8F0F5"/>
          </a:solidFill>
          <a:ln xmlns:a="http://schemas.openxmlformats.org/drawingml/2006/main" w="9525">
            <a:solidFill>
              <a:srgbClr val="C8D6D0"/>
            </a:solidFill>
            <a:prstDash val="solid"/>
          </a:ln>
        </p:spPr>
        <p:txBody>
          <a:bodyPr xmlns:a="http://schemas.openxmlformats.org/drawingml/2006/main" lIns="95250" tIns="76200" rIns="95250" bIns="76200" anchor="ctr"/>
          <a:lstStyle xmlns:a="http://schemas.openxmlformats.org/drawingml/2006/main"/>
          <a:p xmlns:a="http://schemas.openxmlformats.org/drawingml/2006/main">
            <a:pPr algn="ctr">
              <a:defRPr sz="1200" b="1">
                <a:solidFill>
                  <a:srgbClr val="173F36"/>
                </a:solidFill>
                <a:latin typeface="Aptos"/>
                <a:ea typeface="Aptos"/>
                <a:cs typeface="Aptos"/>
              </a:defRPr>
            </a:pPr>
            <a:r>
              <a:rPr sz="1200" b="1">
                <a:solidFill>
                  <a:srgbClr val="173F36"/>
                </a:solidFill>
                <a:latin typeface="Aptos"/>
                <a:ea typeface="Aptos"/>
                <a:cs typeface="Aptos"/>
              </a:rPr>
              <a:t>Settlement</a:t>
            </a:r>
          </a:p>
        </p:txBody>
      </p:sp>
      <p:sp>
        <p:nvSpPr>
          <p:cNvPr id="27" name="">
            <a:extLst xmlns:a="http://schemas.openxmlformats.org/drawingml/2006/main">
              <a:ext uri="{FF2B5EF4-FFF2-40B4-BE49-F238E27FC236}">
                <a16:creationId xmlns:a16="http://schemas.microsoft.com/office/drawing/2014/main" id="{6CA45BB4-55AD-44E0-9CA2-B39871FB6E93}"/>
              </a:ext>
            </a:extLst>
          </p:cNvPr>
          <p:cNvSpPr>
            <a:spLocks xmlns:a="http://schemas.openxmlformats.org/drawingml/2006/main" noGrp="1"/>
          </p:cNvSpPr>
          <p:nvPr/>
        </p:nvSpPr>
        <p:spPr>
          <a:xfrm xmlns:a="http://schemas.openxmlformats.org/drawingml/2006/main">
            <a:off x="9525000" y="5105400"/>
            <a:ext cx="2038350" cy="457200"/>
          </a:xfrm>
          <a:prstGeom xmlns:a="http://schemas.openxmlformats.org/drawingml/2006/main" prst="rect">
            <a:avLst/>
          </a:prstGeom>
          <a:solidFill xmlns:a="http://schemas.openxmlformats.org/drawingml/2006/main">
            <a:srgbClr val="EAF3EE"/>
          </a:solidFill>
          <a:ln xmlns:a="http://schemas.openxmlformats.org/drawingml/2006/main" w="9525">
            <a:solidFill>
              <a:srgbClr val="C8D6D0"/>
            </a:solidFill>
            <a:prstDash val="solid"/>
          </a:ln>
        </p:spPr>
        <p:txBody>
          <a:bodyPr xmlns:a="http://schemas.openxmlformats.org/drawingml/2006/main" lIns="95250" tIns="76200" rIns="95250" bIns="76200" anchor="ctr"/>
          <a:lstStyle xmlns:a="http://schemas.openxmlformats.org/drawingml/2006/main"/>
          <a:p xmlns:a="http://schemas.openxmlformats.org/drawingml/2006/main">
            <a:pPr algn="ctr">
              <a:defRPr sz="1200" b="1">
                <a:solidFill>
                  <a:srgbClr val="173F36"/>
                </a:solidFill>
                <a:latin typeface="Aptos"/>
                <a:ea typeface="Aptos"/>
                <a:cs typeface="Aptos"/>
              </a:defRPr>
            </a:pPr>
            <a:r>
              <a:rPr sz="1200" b="1">
                <a:solidFill>
                  <a:srgbClr val="173F36"/>
                </a:solidFill>
                <a:latin typeface="Aptos"/>
                <a:ea typeface="Aptos"/>
                <a:cs typeface="Aptos"/>
              </a:rPr>
              <a:t>Project Tracking</a:t>
            </a:r>
          </a:p>
        </p:txBody>
      </p:sp>
      <p:sp>
        <p:nvSpPr>
          <p:cNvPr id="28" name="">
            <a:extLst xmlns:a="http://schemas.openxmlformats.org/drawingml/2006/main">
              <a:ext uri="{FF2B5EF4-FFF2-40B4-BE49-F238E27FC236}">
                <a16:creationId xmlns:a16="http://schemas.microsoft.com/office/drawing/2014/main" id="{82F57CDB-C4BE-49ED-BE79-66225BA764E2}"/>
              </a:ext>
            </a:extLst>
          </p:cNvPr>
          <p:cNvSpPr>
            <a:spLocks xmlns:a="http://schemas.openxmlformats.org/drawingml/2006/main" noGrp="1"/>
          </p:cNvSpPr>
          <p:nvPr/>
        </p:nvSpPr>
        <p:spPr>
          <a:xfrm xmlns:a="http://schemas.openxmlformats.org/drawingml/2006/main">
            <a:off x="457200" y="5791200"/>
            <a:ext cx="11277600" cy="9525"/>
          </a:xfrm>
          <a:prstGeom xmlns:a="http://schemas.openxmlformats.org/drawingml/2006/main" prst="rect">
            <a:avLst/>
          </a:prstGeom>
          <a:solidFill xmlns:a="http://schemas.openxmlformats.org/drawingml/2006/main">
            <a:srgbClr val="C8D6D0"/>
          </a:solidFill>
          <a:ln xmlns:a="http://schemas.openxmlformats.org/drawingml/2006/main" w="0">
            <a:solidFill>
              <a:srgbClr val="C8D6D0"/>
            </a:solidFill>
            <a:prstDash val="solid"/>
          </a:ln>
        </p:spPr>
      </p:sp>
      <p:sp>
        <p:nvSpPr>
          <p:cNvPr id="29" name="">
            <a:extLst xmlns:a="http://schemas.openxmlformats.org/drawingml/2006/main">
              <a:ext uri="{FF2B5EF4-FFF2-40B4-BE49-F238E27FC236}">
                <a16:creationId xmlns:a16="http://schemas.microsoft.com/office/drawing/2014/main" id="{B057C7CF-C7F2-446E-83B1-12204E80E432}"/>
              </a:ext>
            </a:extLst>
          </p:cNvPr>
          <p:cNvSpPr>
            <a:spLocks xmlns:a="http://schemas.openxmlformats.org/drawingml/2006/main" noGrp="1"/>
          </p:cNvSpPr>
          <p:nvPr/>
        </p:nvSpPr>
        <p:spPr>
          <a:xfrm xmlns:a="http://schemas.openxmlformats.org/drawingml/2006/main">
            <a:off x="457200" y="5934075"/>
            <a:ext cx="112776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75" b="1">
                <a:solidFill>
                  <a:srgbClr val="173F36"/>
                </a:solidFill>
                <a:latin typeface="Aptos"/>
                <a:ea typeface="Aptos"/>
                <a:cs typeface="Aptos"/>
              </a:defRPr>
            </a:pPr>
            <a:r>
              <a:rPr sz="1875" b="1">
                <a:solidFill>
                  <a:srgbClr val="173F36"/>
                </a:solidFill>
                <a:latin typeface="Aptos"/>
                <a:ea typeface="Aptos"/>
                <a:cs typeface="Aptos"/>
              </a:rPr>
              <a:t>AgriPartners brings every participant into one transparent investment workflow.</a:t>
            </a:r>
          </a:p>
        </p:txBody>
      </p:sp>
    </p:spTree>
    <p:extLst>
      <p:ext uri="{BB962C8B-B14F-4D97-AF65-F5344CB8AC3E}">
        <p14:creationId xmlns:p14="http://schemas.microsoft.com/office/powerpoint/2010/main" val="13140029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2026-07-11T08:29:40.6790000Z</dcterms:created>
  <dcterms:modified xsi:type="dcterms:W3CDTF">2026-07-11T08:29:40.6800000Z</dcterms:modified>
</coreProperties>
</file>