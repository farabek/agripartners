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e6ce9b3a444d5" /><Relationship Type="http://schemas.openxmlformats.org/officeDocument/2006/relationships/extended-properties" Target="/docProps/app.xml" Id="Ra7315acfb4194ea4" /><Relationship Type="http://schemas.openxmlformats.org/officeDocument/2006/relationships/officeDocument" Target="/ppt/presentation.xml" Id="R5a3089071a19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1e46148e94fa7"/>
  </p:sldMasterIdLst>
  <p:notesMasterIdLst>
    <p:notesMasterId xmlns:r="http://schemas.openxmlformats.org/officeDocument/2006/relationships" r:id="R6298b120344f483d"/>
  </p:notesMasterIdLst>
  <p:sldIdLst>
    <p:sldId xmlns:r="http://schemas.openxmlformats.org/officeDocument/2006/relationships" id="256" r:id="R2ec08db9f8124820"/>
    <p:sldId xmlns:r="http://schemas.openxmlformats.org/officeDocument/2006/relationships" id="257" r:id="Rf04043a1fc134264"/>
    <p:sldId xmlns:r="http://schemas.openxmlformats.org/officeDocument/2006/relationships" id="258" r:id="Rcbe2ad2a64e24e2f"/>
    <p:sldId xmlns:r="http://schemas.openxmlformats.org/officeDocument/2006/relationships" id="259" r:id="R1f1afae0c4ba4b0c"/>
    <p:sldId xmlns:r="http://schemas.openxmlformats.org/officeDocument/2006/relationships" id="260" r:id="R80358ff578624dad"/>
    <p:sldId xmlns:r="http://schemas.openxmlformats.org/officeDocument/2006/relationships" id="261" r:id="Rcec0e94f05c147bf"/>
    <p:sldId xmlns:r="http://schemas.openxmlformats.org/officeDocument/2006/relationships" id="262" r:id="R7222c509c85144dd"/>
    <p:sldId xmlns:r="http://schemas.openxmlformats.org/officeDocument/2006/relationships" id="263" r:id="Rc171783c05ec4549"/>
    <p:sldId xmlns:r="http://schemas.openxmlformats.org/officeDocument/2006/relationships" id="264" r:id="R7b8c5abb69a94e15"/>
    <p:sldId xmlns:r="http://schemas.openxmlformats.org/officeDocument/2006/relationships" id="265" r:id="R02f886a792c54824"/>
    <p:sldId xmlns:r="http://schemas.openxmlformats.org/officeDocument/2006/relationships" id="266" r:id="R3c054f67affe4f8c"/>
    <p:sldId xmlns:r="http://schemas.openxmlformats.org/officeDocument/2006/relationships" id="267" r:id="R96320451c36d4ad8"/>
    <p:sldId xmlns:r="http://schemas.openxmlformats.org/officeDocument/2006/relationships" id="268" r:id="R31ccd91f5c804c73"/>
    <p:sldId xmlns:r="http://schemas.openxmlformats.org/officeDocument/2006/relationships" id="269" r:id="R2a3a1370317a476d"/>
    <p:sldId xmlns:r="http://schemas.openxmlformats.org/officeDocument/2006/relationships" id="270" r:id="R8d7ab71807f7411d"/>
    <p:sldId xmlns:r="http://schemas.openxmlformats.org/officeDocument/2006/relationships" id="271" r:id="Raecd0321f5d144a5"/>
    <p:sldId xmlns:r="http://schemas.openxmlformats.org/officeDocument/2006/relationships" id="272" r:id="R54d220d209d644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8a67a0739480d" /><Relationship Type="http://schemas.openxmlformats.org/officeDocument/2006/relationships/slideMaster" Target="/ppt/slideMasters/slideMaster1.xml" Id="Rdcb1e46148e94fa7" /><Relationship Type="http://schemas.openxmlformats.org/officeDocument/2006/relationships/notesMaster" Target="/ppt/notesMasters/notesMaster1.xml" Id="R6298b120344f483d" /><Relationship Type="http://schemas.openxmlformats.org/officeDocument/2006/relationships/presProps" Target="/ppt/presProps.xml" Id="Rc74140dd111445cc" /><Relationship Type="http://schemas.openxmlformats.org/officeDocument/2006/relationships/viewProps" Target="/ppt/viewProps.xml" Id="R36f15ded723d4d8a" /><Relationship Type="http://schemas.openxmlformats.org/officeDocument/2006/relationships/tableStyles" Target="/ppt/tableStyles.xml" Id="R8f855b651c9a4d91" /><Relationship Type="http://schemas.openxmlformats.org/officeDocument/2006/relationships/slide" Target="/ppt/slides/slide1.xml" Id="R2ec08db9f8124820" /><Relationship Type="http://schemas.openxmlformats.org/officeDocument/2006/relationships/slide" Target="/ppt/slides/slide2.xml" Id="Rf04043a1fc134264" /><Relationship Type="http://schemas.openxmlformats.org/officeDocument/2006/relationships/slide" Target="/ppt/slides/slide3.xml" Id="Rcbe2ad2a64e24e2f" /><Relationship Type="http://schemas.openxmlformats.org/officeDocument/2006/relationships/slide" Target="/ppt/slides/slide4.xml" Id="R1f1afae0c4ba4b0c" /><Relationship Type="http://schemas.openxmlformats.org/officeDocument/2006/relationships/slide" Target="/ppt/slides/slide5.xml" Id="R80358ff578624dad" /><Relationship Type="http://schemas.openxmlformats.org/officeDocument/2006/relationships/slide" Target="/ppt/slides/slide6.xml" Id="Rcec0e94f05c147bf" /><Relationship Type="http://schemas.openxmlformats.org/officeDocument/2006/relationships/slide" Target="/ppt/slides/slide7.xml" Id="R7222c509c85144dd" /><Relationship Type="http://schemas.openxmlformats.org/officeDocument/2006/relationships/slide" Target="/ppt/slides/slide8.xml" Id="Rc171783c05ec4549" /><Relationship Type="http://schemas.openxmlformats.org/officeDocument/2006/relationships/slide" Target="/ppt/slides/slide9.xml" Id="R7b8c5abb69a94e15" /><Relationship Type="http://schemas.openxmlformats.org/officeDocument/2006/relationships/slide" Target="/ppt/slides/slide10.xml" Id="R02f886a792c54824" /><Relationship Type="http://schemas.openxmlformats.org/officeDocument/2006/relationships/slide" Target="/ppt/slides/slide11.xml" Id="R3c054f67affe4f8c" /><Relationship Type="http://schemas.openxmlformats.org/officeDocument/2006/relationships/slide" Target="/ppt/slides/slide12.xml" Id="R96320451c36d4ad8" /><Relationship Type="http://schemas.openxmlformats.org/officeDocument/2006/relationships/slide" Target="/ppt/slides/slide13.xml" Id="R31ccd91f5c804c73" /><Relationship Type="http://schemas.openxmlformats.org/officeDocument/2006/relationships/slide" Target="/ppt/slides/slide14.xml" Id="R2a3a1370317a476d" /><Relationship Type="http://schemas.openxmlformats.org/officeDocument/2006/relationships/slide" Target="/ppt/slides/slide15.xml" Id="R8d7ab71807f7411d" /><Relationship Type="http://schemas.openxmlformats.org/officeDocument/2006/relationships/slide" Target="/ppt/slides/slide16.xml" Id="Raecd0321f5d144a5" /><Relationship Type="http://schemas.openxmlformats.org/officeDocument/2006/relationships/slide" Target="/ppt/slides/slide17.xml" Id="R54d220d209d6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b4b6b964b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ecece14024570" /><Relationship Type="http://schemas.openxmlformats.org/officeDocument/2006/relationships/notesMaster" Target="/ppt/notesMasters/notesMaster1.xml" Id="R8678b6338e63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2e1f64ed647d1" /><Relationship Type="http://schemas.openxmlformats.org/officeDocument/2006/relationships/notesMaster" Target="/ppt/notesMasters/notesMaster1.xml" Id="R5e1bb3a404a24e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48d635c9974f7c" /><Relationship Type="http://schemas.openxmlformats.org/officeDocument/2006/relationships/notesMaster" Target="/ppt/notesMasters/notesMaster1.xml" Id="Rd8d28f2cb7d0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3ed2e7c7c84866" /><Relationship Type="http://schemas.openxmlformats.org/officeDocument/2006/relationships/notesMaster" Target="/ppt/notesMasters/notesMaster1.xml" Id="R84a1b322110442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e7f8d978c4212" /><Relationship Type="http://schemas.openxmlformats.org/officeDocument/2006/relationships/notesMaster" Target="/ppt/notesMasters/notesMaster1.xml" Id="R18e3750394ad46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e4b8cc3e94cea" /><Relationship Type="http://schemas.openxmlformats.org/officeDocument/2006/relationships/notesMaster" Target="/ppt/notesMasters/notesMaster1.xml" Id="R50a8c4ab4505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10f3279c24b1c" /><Relationship Type="http://schemas.openxmlformats.org/officeDocument/2006/relationships/notesMaster" Target="/ppt/notesMasters/notesMaster1.xml" Id="R7ec3cb515062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0db279268c46c6" /><Relationship Type="http://schemas.openxmlformats.org/officeDocument/2006/relationships/notesMaster" Target="/ppt/notesMasters/notesMaster1.xml" Id="Rf510f31c414643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97fc2b8fc49fa" /><Relationship Type="http://schemas.openxmlformats.org/officeDocument/2006/relationships/notesMaster" Target="/ppt/notesMasters/notesMaster1.xml" Id="R0e89f973148b45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c368b345ef4ead" /><Relationship Type="http://schemas.openxmlformats.org/officeDocument/2006/relationships/notesMaster" Target="/ppt/notesMasters/notesMaster1.xml" Id="R108db5e9b73244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b3d988147940b4" /><Relationship Type="http://schemas.openxmlformats.org/officeDocument/2006/relationships/notesMaster" Target="/ppt/notesMasters/notesMaster1.xml" Id="R38a5ef4faba84c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65224214ed4581" /><Relationship Type="http://schemas.openxmlformats.org/officeDocument/2006/relationships/notesMaster" Target="/ppt/notesMasters/notesMaster1.xml" Id="R6ad187207d1a49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b2481133bd47c6" /><Relationship Type="http://schemas.openxmlformats.org/officeDocument/2006/relationships/notesMaster" Target="/ppt/notesMasters/notesMaster1.xml" Id="Rc0bb808d849546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0d2bdc85e24816" /><Relationship Type="http://schemas.openxmlformats.org/officeDocument/2006/relationships/notesMaster" Target="/ppt/notesMasters/notesMaster1.xml" Id="Rcff7ab6313e548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666abe6304404e" /><Relationship Type="http://schemas.openxmlformats.org/officeDocument/2006/relationships/notesMaster" Target="/ppt/notesMasters/notesMaster1.xml" Id="R3378dbd4acfe45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e8a02a4cb94b56" /><Relationship Type="http://schemas.openxmlformats.org/officeDocument/2006/relationships/notesMaster" Target="/ppt/notesMasters/notesMaster1.xml" Id="R4fded90f4d3540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9281ffa7764c5a" /><Relationship Type="http://schemas.openxmlformats.org/officeDocument/2006/relationships/notesMaster" Target="/ppt/notesMasters/notesMaster1.xml" Id="Rb1af3d0aa82448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2a5333260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5b914822964c76" /><Relationship Type="http://schemas.openxmlformats.org/officeDocument/2006/relationships/slideLayout" Target="/ppt/slideLayouts/slideLayout1.xml" Id="R055c13f2779a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c13f2779a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2a42b92a14ad5" /><Relationship Type="http://schemas.openxmlformats.org/officeDocument/2006/relationships/image" Target="/ppt/media/image.png" Id="R97863d22e7974e4e" /><Relationship Type="http://schemas.openxmlformats.org/officeDocument/2006/relationships/notesSlide" Target="/ppt/notesSlides/notesSlide1.xml" Id="R2a37cb0eae39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2a9f18f34968" /><Relationship Type="http://schemas.openxmlformats.org/officeDocument/2006/relationships/notesSlide" Target="/ppt/notesSlides/notesSlide2.xml" Id="R5ee57c1040dc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2242aca94696" /><Relationship Type="http://schemas.openxmlformats.org/officeDocument/2006/relationships/notesSlide" Target="/ppt/notesSlides/notesSlide3.xml" Id="Rd11e5a20d54f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2ceaa5404798" /><Relationship Type="http://schemas.openxmlformats.org/officeDocument/2006/relationships/image" Target="/ppt/media/image2.png" Id="R0dbad8b6b974450a" /><Relationship Type="http://schemas.openxmlformats.org/officeDocument/2006/relationships/notesSlide" Target="/ppt/notesSlides/notesSlide4.xml" Id="Rb5b8caedcc5f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893f0c0a54bf4" /><Relationship Type="http://schemas.openxmlformats.org/officeDocument/2006/relationships/image" Target="/ppt/media/image3.png" Id="R8cb6e4d59374422f" /><Relationship Type="http://schemas.openxmlformats.org/officeDocument/2006/relationships/image" Target="/ppt/media/image4.png" Id="Ree99e59937504b15" /><Relationship Type="http://schemas.openxmlformats.org/officeDocument/2006/relationships/image" Target="/ppt/media/image5.png" Id="Rabb7da19bb7e4e80" /><Relationship Type="http://schemas.openxmlformats.org/officeDocument/2006/relationships/notesSlide" Target="/ppt/notesSlides/notesSlide5.xml" Id="Rf037ce5bd700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dff4f5c44983" /><Relationship Type="http://schemas.openxmlformats.org/officeDocument/2006/relationships/image" Target="/ppt/media/image6.png" Id="R431485e8849d465b" /><Relationship Type="http://schemas.openxmlformats.org/officeDocument/2006/relationships/notesSlide" Target="/ppt/notesSlides/notesSlide6.xml" Id="Rdc96878af06c4c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067a823e14928" /><Relationship Type="http://schemas.openxmlformats.org/officeDocument/2006/relationships/image" Target="/ppt/media/image7.png" Id="R5a6aa9220d2f47a0" /><Relationship Type="http://schemas.openxmlformats.org/officeDocument/2006/relationships/image" Target="/ppt/media/image8.png" Id="Rf7818ad1072d490e" /><Relationship Type="http://schemas.openxmlformats.org/officeDocument/2006/relationships/image" Target="/ppt/media/image9.png" Id="R52ac84f56f2d4c3b" /><Relationship Type="http://schemas.openxmlformats.org/officeDocument/2006/relationships/notesSlide" Target="/ppt/notesSlides/notesSlide7.xml" Id="R72244167cf2d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4442b72384cd9" /><Relationship Type="http://schemas.openxmlformats.org/officeDocument/2006/relationships/image" Target="/ppt/media/image10.png" Id="R1598da5f3e454ec0" /><Relationship Type="http://schemas.openxmlformats.org/officeDocument/2006/relationships/image" Target="/ppt/media/image11.png" Id="R7190bfbb2b6848e7" /><Relationship Type="http://schemas.openxmlformats.org/officeDocument/2006/relationships/image" Target="/ppt/media/image12.png" Id="R53fcaa8119184880" /><Relationship Type="http://schemas.openxmlformats.org/officeDocument/2006/relationships/notesSlide" Target="/ppt/notesSlides/notesSlide8.xml" Id="Rbe289d393579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b5c367694c88" /><Relationship Type="http://schemas.openxmlformats.org/officeDocument/2006/relationships/image" Target="/ppt/media/image13.png" Id="Ra969127bf1124063" /><Relationship Type="http://schemas.openxmlformats.org/officeDocument/2006/relationships/notesSlide" Target="/ppt/notesSlides/notesSlide9.xml" Id="Rc73169a234c447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3aead6084eac" /><Relationship Type="http://schemas.openxmlformats.org/officeDocument/2006/relationships/image" Target="/ppt/media/image14.png" Id="R9cd1da6cbf034500" /><Relationship Type="http://schemas.openxmlformats.org/officeDocument/2006/relationships/notesSlide" Target="/ppt/notesSlides/notesSlide10.xml" Id="Rc2eb889ac30f4f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09a2714d40da" /><Relationship Type="http://schemas.openxmlformats.org/officeDocument/2006/relationships/image" Target="/ppt/media/image15.png" Id="R5b7029a7502e4651" /><Relationship Type="http://schemas.openxmlformats.org/officeDocument/2006/relationships/notesSlide" Target="/ppt/notesSlides/notesSlide11.xml" Id="R54fd3713777a4c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785bd6b94b38" /><Relationship Type="http://schemas.openxmlformats.org/officeDocument/2006/relationships/notesSlide" Target="/ppt/notesSlides/notesSlide12.xml" Id="Rac30c2c56a864e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52135dc8a4b53" /><Relationship Type="http://schemas.openxmlformats.org/officeDocument/2006/relationships/notesSlide" Target="/ppt/notesSlides/notesSlide13.xml" Id="R8b226a0043ac44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1811fbd224ab8" /><Relationship Type="http://schemas.openxmlformats.org/officeDocument/2006/relationships/image" Target="/ppt/media/image16.png" Id="Rd19e76ed58fc4a6f" /><Relationship Type="http://schemas.openxmlformats.org/officeDocument/2006/relationships/notesSlide" Target="/ppt/notesSlides/notesSlide14.xml" Id="R1eb7562bc6954a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ce2d56caf428b" /><Relationship Type="http://schemas.openxmlformats.org/officeDocument/2006/relationships/notesSlide" Target="/ppt/notesSlides/notesSlide15.xml" Id="Rf1b44506955e49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8abe21ad04d8e" /><Relationship Type="http://schemas.openxmlformats.org/officeDocument/2006/relationships/notesSlide" Target="/ppt/notesSlides/notesSlide16.xml" Id="Re63a62d28e2244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2212d6921434e" /><Relationship Type="http://schemas.openxmlformats.org/officeDocument/2006/relationships/notesSlide" Target="/ppt/notesSlides/notesSlide17.xml" Id="R8986ee0962544b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66F4B-E6C2-46D1-ABFD-074494EE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FB1D9-91A7-4DA0-B80A-972A993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85F4F-93CA-4E36-95A1-728F0C31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CD53E-2326-4EB1-BA03-0970C46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E7503-8E7E-4FF5-ACD1-D10B7B51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61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AgriPartners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92BF4-1E3F-4EA3-AC33-86CD2DBD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Transparent agricultural investment workflows for pilot-scale livestock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0E8A-CDD1-45C7-AC4B-96AC34D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Alpha v1 | Investor, farmer, admin, and NEAR Testnet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19C76-42F3-4DA9-BAC8-F5A488E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14400"/>
            <a:ext cx="47815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63d22e7974e4e"/>
          <a:stretch xmlns:a="http://schemas.openxmlformats.org/drawingml/2006/main"/>
        </p:blipFill>
        <p:spPr>
          <a:xfrm xmlns:a="http://schemas.openxmlformats.org/drawingml/2006/main">
            <a:off x="6800850" y="1422202"/>
            <a:ext cx="4629150" cy="260389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DF33D-F303-4A1B-A9D6-D7C9E6B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67787-30F4-4FB6-B42B-B797316D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05325"/>
            <a:ext cx="451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portal 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E6013-E3F8-4666-9CF3-B842E226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AAD13-03BA-4A28-8F9E-B2F1C81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A2509-39EA-4784-AC2E-5FB94C4F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517C7-BF41-418A-94EC-D7C1813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8AFAA-9C2C-4A29-BC41-5A97EBF9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8035C-5252-4EA9-BB49-8A4363B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A5D14-18B5-4694-B020-34E9936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588D9-00BD-4B98-88BF-78CF402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F1B19-4151-411A-8F61-1741A26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3C015-EE4E-49C4-89D8-F13B85C5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7C97C-3B0B-450C-A5C9-7B2E3FF1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D6F5D-5F91-4EFA-950B-7309651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F9C95-7253-4C4F-BAAE-6F1AE02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A1CF0-6611-439C-B747-855AA28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DF2E2-B3EA-40E1-9760-445F0A4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06989-8A71-41B9-9EDB-83EB4326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ROI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2A6B2-882F-41F1-ADF0-78A10BD7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57800"/>
            <a:ext cx="207264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5B91A-CE19-4541-8828-BB8ED048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57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457992-688B-43CA-A17B-8070DC0B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37210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89BEC-2A80-4727-A405-DFD3128B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753100"/>
            <a:ext cx="17487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Hissar Projected ROI</a:t>
            </a:r>
          </a:p>
        </p:txBody>
      </p:sp>
    </p:spTree>
    <p:extLst>
      <p:ext uri="{BB962C8B-B14F-4D97-AF65-F5344CB8AC3E}">
        <p14:creationId xmlns:p14="http://schemas.microsoft.com/office/powerpoint/2010/main" val="18034464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FFB7E-F450-4A63-9F22-D2E2C11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607E7-C331-45FD-A54A-C230D5F3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FC16A-3DB3-4295-9195-0133B892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D61B0-1B18-4DC5-B0AC-8877724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D05F0-ABF6-447D-B120-5CCBE04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658D-E93F-4C1F-A421-0587B0CA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Agricultural Capital Is Still Hard to Review and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BE54B-077A-4760-A9F7-5E476AE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Farmers need working capital before revenue arrives. Investors need structured terms, reporting discipline, and repayment visibility.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6FE8A-3E79-4CFE-A7B9-38CEC42B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98095-E76A-4623-8D62-9BEEB9C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A5B2-E0F7-4144-95F1-8E82AE1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Fragmented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8E715-56AD-4E62-B841-B15C9332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Deals often rely on offline documents and relationship-based updates.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7C642-956A-46D0-B2DA-8DCA309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A9A85-38A8-4893-B246-31147F6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AA88-F4CD-4A4F-A7F6-54E583E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Weak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DC33A-D7DC-4D40-8115-CDE92CE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Operational progress and cycle status are difficult to compare across projects.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F8A23-6487-4C88-93DE-FF80A10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16F8D-1650-41CF-9DB4-61BB12B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24773-A262-462B-8527-5A2CFBA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Trust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C4483-BCD4-463D-9560-AB4C48C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Cross-border capital needs clear economics and repayment proof before scaling.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6A3B0-0CEE-4D24-AF74-5CB31ED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73649-1038-4015-9AC7-9D731EA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EFEE9-29F3-4EB6-9218-D9437227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Farm operators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BB710-EE14-49CB-9FD5-EDCA415E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8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E5BB4-5954-456F-ACD4-9FEEA2A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B88A24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B88A24"/>
                </a:solidFill>
                <a:latin typeface="Aptos"/>
                <a:ea typeface="Aptos"/>
                <a:cs typeface="Aptos"/>
              </a:rPr>
              <a:t>Structured deal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D7AD3-EA60-4336-A492-AF5E7BD8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8FA4F-ABE5-4DDC-B9AE-A91E7C00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External capital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A5818-9610-4AF9-B819-327E855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7205895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06174-432F-413C-8A26-40792E41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5C4C0-EA82-417C-B011-27DF682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6F1A-32A5-4FA6-8FA6-864C3D0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35C80-64C1-4EB8-B25C-089DA50D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F07D6-4EE8-4A97-9095-6E6A72F3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DB779-8750-40BB-99EA-CD8EA7E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Real-Economy Yield in a Recurring Agriculture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67DFD-CA1C-491A-AF0D-D5B533F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is designed for regional and international investors seeking transparent access to agricultural opportunities in Central Asia.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B6FAE-EF0F-4156-B830-024308E3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7DDC1-8AF9-4A49-BB77-0B7DEF4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32710-B483-4DE3-ABBD-0090441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Recurring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1B29E-7E02-48A0-BD14-CD9353D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Livestock, breeding, crops, greenhouses, poultry, and food supply chains need repeat capital cycles.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ED4D7-D3A9-4631-898D-BB88025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10269-E6CA-407D-909F-9F0EAAC8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3B62D-44BA-46D7-8074-629AEEA7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Comparable Deals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2BFA8-D1D9-4AEA-9F39-AAB67B6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Standardized project profiles make agricultural opportunities easier to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070C0-4A7C-4AC7-ACF7-60E78183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1EB74-2612-485C-BC37-5E9D2A1F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44F1C-F06B-48A6-8DD1-8F67DEA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Regional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50355-E4E2-4915-9E0A-41487DD2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The platform is designed for disciplined cross-border pilot validation.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A0EE9-95AE-436C-BA73-92CCEF2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39C37-702B-43FE-A7F6-32704F0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B8C4F-E9E0-41FA-BA1E-2F72416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Farm operators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3EED8-E119-43B1-915C-B745AE46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8A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95C0A-68DF-44E2-9143-4B22E9F4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B88A24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B88A24"/>
                </a:solidFill>
                <a:latin typeface="Aptos"/>
                <a:ea typeface="Aptos"/>
                <a:cs typeface="Aptos"/>
              </a:rPr>
              <a:t>Structured deal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03614-FCCD-49F5-A0B3-527D75D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32C39-2153-4E93-9A2C-6A1EC12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External capital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2F0F3-2167-4355-B7BB-6EB0A06A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5602228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3CFE7-C72C-4ADB-8E9F-001C11D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4ECA0-7C94-48EB-9192-4B66873C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88336-FFD3-4BD3-9486-6227FD02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74E21-F8BB-4763-8E9B-EE16CC0B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6DB35-161D-4199-87F1-3FDE716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B603-F616-44B1-B086-55A6FAA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Structured Agricultural Investment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CB034-0218-4C7A-9C94-934E1E1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connects investors and agricultural operators through project profiles, reporting, return tracking, and blockchain-supported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13343-8DD6-4C87-A019-DF41877D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7D82B-5FF4-4004-80BC-3837F24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21F58-4D7F-4FEF-8172-DB8AFB5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Create deal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5512B-F5C2-47F1-8FE0-A4453FAB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867C2-C578-4B47-820A-9D2F965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99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4994B-6DED-475F-A41D-78A20111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Review economics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B1962-E930-4DCD-819A-35444C3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45D36-C895-4094-9C80-ABBF60F7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73FD9-90EB-4313-ACA5-0F4FA74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Execute cycles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013A3-00D2-46CF-9778-646BDD4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9912C-864B-4F5B-B94D-D585D9A1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67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97ACC-C09C-4227-A151-A18CB15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7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Report progress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5A5FD-4B40-404D-B4C0-CBD27815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57450"/>
            <a:ext cx="92964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11651-535B-4284-8EDA-06D2C61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5908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99977-07E9-4BB4-BF33-4451F4C4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2857500"/>
            <a:ext cx="7391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Track returns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C94D2-66F6-4F8D-90D2-BE64609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From review to reporting and return tracking in one controlled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CDB5D-848B-4B73-BF1F-67C5C60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52673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ad8b6b974450a"/>
          <a:stretch xmlns:a="http://schemas.openxmlformats.org/drawingml/2006/main"/>
        </p:blipFill>
        <p:spPr>
          <a:xfrm xmlns:a="http://schemas.openxmlformats.org/drawingml/2006/main">
            <a:off x="6366404" y="2314575"/>
            <a:ext cx="5012267" cy="28194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E9ED9-71FF-4FFD-8482-2E025B6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14925"/>
            <a:ext cx="5114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E16C4-26A4-4108-A367-1ACBD2C8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8160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Featured pilot deals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8E919-E756-451D-86E9-6715AFE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4330101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2653D-9BD1-4081-A109-0CE4BAAA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CDEBC-ACDA-4296-8C12-0A384E4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EECB8-1D96-48D6-ADA2-A38B159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09A04-60FC-4118-AB6F-0F9B9336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5D703-B1E6-4304-8EDE-2265743A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E8284-E40C-4D5D-A60B-BA4E797F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One Platform, Three Operating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8DF13-8091-46DE-81AD-6BAA881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The same project lifecycle is translated into investor clarity, farmer execution context, and administrator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05318-96F2-43EB-A5B2-F9361E5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6e4d59374422f"/>
          <a:stretch xmlns:a="http://schemas.openxmlformats.org/drawingml/2006/main"/>
        </p:blipFill>
        <p:spPr>
          <a:xfrm xmlns:a="http://schemas.openxmlformats.org/drawingml/2006/main">
            <a:off x="762000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39C1E-9FA4-462F-A2BC-DBB91E8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FF5DB-4965-4652-83E6-42A056C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12827-B80F-4284-95E9-34E6548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9e59937504b15"/>
          <a:stretch xmlns:a="http://schemas.openxmlformats.org/drawingml/2006/main"/>
        </p:blipFill>
        <p:spPr>
          <a:xfrm xmlns:a="http://schemas.openxmlformats.org/drawingml/2006/main">
            <a:off x="4505325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E406A-B7E8-4D36-8EDD-71758A4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C88AB-6F40-4A73-A54A-DB44C47B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7273B-D1FC-423B-856C-82B16320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7da19bb7e4e80"/>
          <a:stretch xmlns:a="http://schemas.openxmlformats.org/drawingml/2006/main"/>
        </p:blipFill>
        <p:spPr>
          <a:xfrm xmlns:a="http://schemas.openxmlformats.org/drawingml/2006/main">
            <a:off x="8248650" y="2519958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FAC17-0966-4BA4-9BAB-648BECEC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5B603-8F1C-41A4-8EBE-8EC6BDEB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C3C7B-8ED0-47E3-8205-1F1FCDB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Portfolio metrics, pilot deals, ROI, expected returns, returned capital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B15AB-1ED0-4ABF-9D28-22B57BE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Funding confirmation, cycle progress, active and completed deal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9EA61-CB75-4183-A944-78E60CF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Deal monitoring, reporting oversight, repayment status, event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27D74-D953-4A30-927F-43EB00FB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385179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26B07-F22C-4CF7-948A-AFF3B4C4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2820A-0579-4B69-929A-E20C8188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51BA-1809-4C57-9759-23F115E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4A903-38A2-41D3-9F70-897866F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DDD0B-A007-42B0-9B7C-47F3957C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FCF4A-3AF0-4A9B-9F21-5934B5F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Investor Dashboard and Return Visibility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92827-DECA-49FF-B7A2-2632209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Investors can review funding, expected returns, returned capital, outstanding amounts, active deals, completed deals, and ROI in one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D5E73-AB17-4B2E-BFD0-C8CD08B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0074-C149-4512-B550-D046555E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9AEE1-A221-4AAD-ACEF-2BE498F9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C6F61-748F-4BB1-97FC-A44CEDA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88B8D-4C1F-46B5-95B8-FF6B379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78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07F62-D2C7-4AFA-8CAA-CCB98C7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78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A810B-BD37-4B37-AD6A-F8AD8E9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21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5C2A7-3B0F-4031-9788-F3B821B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60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03C32-554F-4EC2-861F-FB02D532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0650"/>
            <a:ext cx="3143250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0F72F-2506-4CB2-A674-413AEA3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0650"/>
            <a:ext cx="47625" cy="71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4189B-E3F7-40C9-AC83-9DD43BC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4950"/>
            <a:ext cx="2819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DC1EC-6CF1-4406-9600-73E3E86A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88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20668-5454-43CB-A519-72FE0272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CE15C-DFB9-4B49-92AF-7D575260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Completed projects show ROI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CA89A-287F-48DD-A5DA-D9D3B5B0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C7EBA-14FA-444A-A50D-7B1B798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Active projects show projected ROI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7F5BE-8391-439E-A6A5-222E273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E4EF4-8337-4EA5-A6AA-741A0475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Portfolio metrics stay visible above individual deals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6949D-BF64-4CBC-B105-FEC8CB7A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704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485e8849d465b"/>
          <a:stretch xmlns:a="http://schemas.openxmlformats.org/drawingml/2006/main"/>
        </p:blipFill>
        <p:spPr>
          <a:xfrm xmlns:a="http://schemas.openxmlformats.org/drawingml/2006/main">
            <a:off x="5746750" y="2324100"/>
            <a:ext cx="4470400" cy="2514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9F130-40DD-41AD-AFFC-52C11A5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9EA10-4097-4AEC-9C4D-6DA656FF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678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Investment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11959-0209-4F28-80E7-51A06DA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4720401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07867-543C-4FD3-991B-5532FB7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DDEB9-AD79-433A-A8AB-BBCA37A5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ED715-D0FF-4C1D-9E14-90A36D9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84F10-2B14-402A-923C-4C814AD6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263E3-5DD9-4627-BCBA-DF6C4A7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F8350-B3DE-47CE-8DCE-702565F2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Farmer Operations and 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F68FB-CA72-4575-850E-D9F79BA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Farmers see funding confirmation, cycle progress, active and completed deals, and report status in business-readable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4CA4E-BF9A-43F3-A0A1-4839C05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aa9220d2f47a0"/>
          <a:stretch xmlns:a="http://schemas.openxmlformats.org/drawingml/2006/main"/>
        </p:blipFill>
        <p:spPr>
          <a:xfrm xmlns:a="http://schemas.openxmlformats.org/drawingml/2006/main">
            <a:off x="89111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32A19-A467-49DA-8759-7183FE0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5BE8D-D746-4253-B2BD-885A9A9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1191F-C833-4419-A7A0-A0B513C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18ad1072d490e"/>
          <a:stretch xmlns:a="http://schemas.openxmlformats.org/drawingml/2006/main"/>
        </p:blipFill>
        <p:spPr>
          <a:xfrm xmlns:a="http://schemas.openxmlformats.org/drawingml/2006/main">
            <a:off x="460586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D8292-C423-4F3C-96EC-734B995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78CED-B836-4998-BF84-79EAF7D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90C75-42A9-448F-BFFE-5D0B171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390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c84f56f2d4c3b"/>
          <a:stretch xmlns:a="http://schemas.openxmlformats.org/drawingml/2006/main"/>
        </p:blipFill>
        <p:spPr>
          <a:xfrm xmlns:a="http://schemas.openxmlformats.org/drawingml/2006/main">
            <a:off x="8320617" y="2343150"/>
            <a:ext cx="2980267" cy="1676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B0B9F-CEE0-40F5-B66C-1F90D85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C6046-C3F1-45CA-BAA1-305E2912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67175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Deals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0A668-C372-4D47-90C3-315B3150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A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64B8C-5A46-41B8-8029-0BABB289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Funding confirmed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550D4-AFD1-44A1-AF80-89426A9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4D44C-6246-4318-82E8-CF18933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Cycles executed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B7F54-FCE2-4183-A70B-C7458AA3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A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86ABC-43C6-4239-8AAF-4F501EF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Report 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E706F-4362-421E-8B42-A0C4E30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95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BA0A3-7C78-42F0-A3E9-2442F49E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9587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Returns tracked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5090D-0C35-4F22-95F6-1EC16DA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708143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956AD-D18A-4B3A-8C9B-7A1EA4C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04C9-5EED-403F-A0F6-A2A940C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3588C-1E45-40F5-A59F-AC614A1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83705-10DD-44D9-9035-7015707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D1FE2-0A24-456A-ADC3-3DF361CD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AB817-2DF7-417D-9DE0-3A2D3170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Operational Control for Pilot Deals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6748F-7313-4289-B8B1-B05D26C7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Admins monitor funding, deal status, farmer reporting, repayment status, and event history across the pilot portfolio.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9E076-298A-4704-A94C-E16EB85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3436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8da5f3e454ec0"/>
          <a:stretch xmlns:a="http://schemas.openxmlformats.org/drawingml/2006/main"/>
        </p:blipFill>
        <p:spPr>
          <a:xfrm xmlns:a="http://schemas.openxmlformats.org/drawingml/2006/main">
            <a:off x="1283758" y="2343150"/>
            <a:ext cx="5147733" cy="2895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EE8E8-4894-4267-BF98-8D0F5EF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E3767-7D7F-4A6F-A33A-D8C67C8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607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3513E-2CC1-447D-8E65-2523427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4114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0bfbb2b6848e7"/>
          <a:stretch xmlns:a="http://schemas.openxmlformats.org/drawingml/2006/main"/>
        </p:blipFill>
        <p:spPr>
          <a:xfrm xmlns:a="http://schemas.openxmlformats.org/drawingml/2006/main">
            <a:off x="8432800" y="2343150"/>
            <a:ext cx="2032000" cy="1143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B573A-4915-421E-B83F-3C3036B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671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15582-1462-4ACC-B28D-B2C6B7C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Pilot deals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40D90-D13F-4E88-8047-14E409D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9550"/>
            <a:ext cx="4114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caa8119184880"/>
          <a:stretch xmlns:a="http://schemas.openxmlformats.org/drawingml/2006/main"/>
        </p:blipFill>
        <p:spPr>
          <a:xfrm xmlns:a="http://schemas.openxmlformats.org/drawingml/2006/main">
            <a:off x="8432800" y="4095750"/>
            <a:ext cx="20320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DC307-0F58-452C-B913-E4E0DD5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6B12C-05C0-412B-9C75-AC7DB340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Project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AC8FC-8279-4AF4-908B-0412F4B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580217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E063A-E29B-4C4E-9F16-95CBDCD8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ACE85-F592-4EEB-B9D2-190B1E4A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50DC5-DA6E-4EE4-94D2-7D9C22E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2256C-1986-445F-ABFD-CEA84F3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858F3-A56D-4E10-956B-4E920980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18A87-8657-434E-9B60-10C6FD6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Fidlot Livestock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6E8D7-DF5F-48F8-8ED9-132B576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Completed livestock fattening pilot with clear economics, cycle history, reporting, and realized return visibility.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53F35-A545-4187-A72D-9096C43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7246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9127bf1124063"/>
          <a:stretch xmlns:a="http://schemas.openxmlformats.org/drawingml/2006/main"/>
        </p:blipFill>
        <p:spPr>
          <a:xfrm xmlns:a="http://schemas.openxmlformats.org/drawingml/2006/main">
            <a:off x="1304925" y="23241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0DFE8-5453-4FF1-95B0-FB4EC991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09618-43F1-4C8D-8F2A-2B98A2AB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645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Completed Fidlot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0A3CD-2AD5-4D96-8EDE-439C9AC6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109E2-2FFC-4890-B0B9-6DF91FF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E74E0-85B8-46E0-A3C7-8BA79CD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CF1D2-899B-4A62-9B58-FE50CE4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E8E81-BD2E-4B27-B4AC-CC13F4A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6B934-725C-4B40-B3E4-C730F3E1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87A47-2B81-4D71-AD5D-7AD2E12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D7E84-BEB0-4A81-9A36-81FD21ED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5E2F9-EF85-4CB2-8291-1BD45206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B8541-EDD6-46EC-A74A-21E5D985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03147-202B-45CE-A93A-ADD9434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21.9%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72F52-464D-4D9A-B764-F7C6A39B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9B2A7-860F-441E-8795-81292C2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82B31-D747-47B8-83E5-2748550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FD770-52EC-499C-AB16-D75C6120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3F542-1820-43A8-A00B-8BA2774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Cycles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A0DDA-15E3-4B28-ABA9-612D49D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1976A-0294-45F5-83FE-3A5AF85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6AA108-48B4-492D-B400-1452F30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B298A-9ECD-4C67-9EE8-370B968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054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5C80F-8E6C-48BE-80E6-685A886C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431034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5C414-42AC-4F41-AF3C-1846376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0C3E6-B77D-4582-A3E9-BF541E5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6846F-162D-41D9-B3FD-AACD0D93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E232C-441D-4C17-8FB1-9B36517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AB77F-4131-4E60-8BA5-4C1E1814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B03BE-98E1-4F8D-815F-E1E2816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Hissar Sheep Breeding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A333D-560A-454A-816C-32D2C89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Active sheep breeding pilot showing repeatability of the same investment lifecycle across a second agricultural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30E25-AD32-457A-9A88-59CB055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7246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1da6cbf034500"/>
          <a:stretch xmlns:a="http://schemas.openxmlformats.org/drawingml/2006/main"/>
        </p:blipFill>
        <p:spPr>
          <a:xfrm xmlns:a="http://schemas.openxmlformats.org/drawingml/2006/main">
            <a:off x="1304925" y="232410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FAAE-B880-4B30-996B-501E98C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06581-6741-4325-A766-44029E9E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645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Active Hissar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4F0EF-FFEE-471C-AC84-383784A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BC54B-D753-4A55-A85E-724FAAC7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E6B6B-5924-4A12-8F0E-9A234343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82683-E343-4C8C-B3D3-8017037C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B6C26-8A01-4CC5-9F01-637AB3D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589CF-8B5E-4985-A949-0ABA4836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7FF4C-7B73-4401-AFCC-23DAAD6C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E593B-963F-4DC7-9C62-8D3CA0FA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Projected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7179C-D110-4BDF-8B05-0076DC6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A67E8-5EFE-4241-AED4-4BDA5E2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214BB-7640-423C-836C-4AC2CB8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21.1%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533C0-7CBF-49B6-9E76-BB741FBC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61555-8EB7-4910-B1C0-BDBEB47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A9FF3-4795-4A4D-8D2B-8BB4AF9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0A9F4-8E35-4842-B7C1-7366F094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A5D18-1173-4152-949B-7D763B85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Cycles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BBFE6-3114-4753-B8E5-DEF012D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69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7D6D0-A0D5-4DEF-90E4-C80496C8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AAC45-222E-4505-AD5A-B8FD58F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$81,650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C277B9-A0AB-4A1E-94B1-4E5C599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05450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Outstanding Expected Returns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13B226-4048-49AA-B47C-31A2BE8B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4206384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801E7-5240-4BD4-A9ED-7E4E78A7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D206A-4175-42B3-B3E1-B5D2971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5966F-5F49-4312-B1AB-EF47BD81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7C3D2-76A0-414A-A1DA-A0412A4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ECC15-74A0-48C8-B8C0-98023B4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2DF41-74C1-4F5D-A058-BE857D14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Workflow Validation on NEAR Testnet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252D1-8952-4FF8-BEE5-9B2F7457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Testnet supports wallet-authenticated access, contract-aware lifecycle flows, event references, and future settlement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26F40-56F5-400A-A423-B78B151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1F2F0-AD4B-492C-A695-A76BC781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F3C2D-C189-4BF7-883E-B880BC9A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Wallet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78062-3D38-46D6-B8C6-6924DBE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99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B8FFD-521A-4B3E-863F-2D5F27FB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40EF0-A90F-4FC3-884A-DC1CF5E6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Contract-aware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41B2A-AC0C-40E8-9227-9140E072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FB97A-7DE9-47DC-9D81-33D973CD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33874-849D-45EF-B3C9-1F45AE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Event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CFED6-6303-458D-A21B-24B277B5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7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38857-CB88-462E-AEBF-4479226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6CA46-856F-4DE1-813B-5E6F391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9386D-A060-4199-AD3E-865ABA3E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67000"/>
            <a:ext cx="106299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B75BD-91E1-447F-91E8-D0B9E060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2800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F7F05-D105-437F-9F5F-47274C6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067050"/>
            <a:ext cx="8724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Settlement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CCFA5-37B6-4637-9E82-2D25A8F3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52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Blockchain remains trust infrastructure behind an investor-friendly interface.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E30D5-1CB6-4703-948D-372B98BD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552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029a7502e4651"/>
          <a:stretch xmlns:a="http://schemas.openxmlformats.org/drawingml/2006/main"/>
        </p:blipFill>
        <p:spPr>
          <a:xfrm xmlns:a="http://schemas.openxmlformats.org/drawingml/2006/main">
            <a:off x="7029450" y="2534245"/>
            <a:ext cx="4400550" cy="247530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FEA72-A83D-468B-8E28-66C14E65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25DE8-2A0D-41F3-92E3-E82930D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Wallet-authenticated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0769D-3124-4EA1-A210-ED7C08AF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1493724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73954-B194-41BE-8F7E-B2235D9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1F90-3318-4935-A171-FB7F6B2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95EF5-C813-4ECB-867A-A2C0283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91865-F12A-4852-833F-AC7966B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FFF45-1652-428F-91B2-666D3E77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9AB64-F50E-477B-B725-86B7E4F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Investment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CBD01-4C35-490F-8346-BAD4852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packages agricultural projects into a reviewable, monitored, and repeatable investment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CC28A-0E97-423B-8B62-B53B997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73A59-32E7-4E5E-B69F-31ABB980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AEABE-059B-45EF-81D1-95C93502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Project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A278B-D711-4594-8ABA-9D807CA7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7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83E2-E67C-4A74-9545-A2D5983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807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33BF0-0FEF-49C4-98A5-076008C5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07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8D0AB-149D-425D-B7DA-F2DBC52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E3547-1312-4D84-BA00-DA4818D7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64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E00DB-8C75-4406-B7FB-08299BFC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64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49B64-CD93-4FB1-BB3E-613CBE2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1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E14CF-6652-415F-A2F9-C2CD921D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21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2A38C-8DE7-4A33-B3EC-9DBEF0E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21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Farm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423E7-41E8-4F66-A6A3-8595ADF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9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E629F-DD47-4C8E-84E6-9191463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779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EDA35-788A-40AA-A02B-7C712ED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79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CFFBA-F0D1-454F-A3E0-1E6B702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86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40EF6-629D-4E27-8431-97B5595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436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DA075-1064-4A92-95C2-78C1692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Return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722B4-38DC-41C3-83C7-216C859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743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A70D7-3B48-4192-8565-6421637B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EA83A-80E5-4C28-9581-B3387F1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993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Admin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BDF7E-365F-4EC1-8599-DE1A3939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EB809-05A5-4917-A2B9-791B383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6D18F-8851-48CD-8A1D-8E733CA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4631A-D385-4A29-B013-36B4DA8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041C8C-8E6A-4E64-91C4-67FEDBED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D2C9C-208F-48EC-AAB5-CD814D0F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043DB-8AEF-4749-A8A6-8E777D3E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02251-53E8-4A3C-89DA-7E3B36F9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55228F-EFAF-4C3F-95BB-2A29DE4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F54B5-BC38-459E-B1A9-6CF62039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A810DD-AA5C-4940-9212-E8A6BF9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CD17D-628C-4C01-9F7E-88EBCEB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64024B-6557-4106-BFBE-9DF85630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ACEC3F-734A-41FB-B1A4-8D716AF8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4F05E2-3ABD-46BA-9B40-B1099BA4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A08727-A88C-4D56-8B8C-2C63D83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ROI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D14CC-9274-4335-9830-EF23B551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AD4FD7-3965-49D7-B9B3-EB68666F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E0F751-6FF4-47E4-B1F7-E430593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17D6F3-B975-4963-A130-F69428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Hissar Projected ROI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B27614-B2D0-4FDA-84D3-D9A9460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2185559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838EE-C84B-40B9-827C-24A6CA9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3F6CC-00D8-4F66-B41B-807ACF5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6C3D3-8B92-4A63-A514-25F70F30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D312-9E00-4119-A9CA-A607CA3F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A397-31A7-493E-926D-11F6788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36668-21B5-4FEE-88BB-806A738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Revenue Lines Around Verified Agricultural Deals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CBAE0-F0AD-4FC0-BBED-3751D1AC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The business model starts with pilot validation, then monetizes around successful returns, reporting, and partner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4DB23-B343-4104-ACAF-930967D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495FA-8612-4E06-9417-3AB76D3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C3223-E6A8-4654-A3C2-47054C1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Platform fee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E77BD-C666-4835-9E63-450E389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Success-linked fee on verified investment returns.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6F6BB-4AD9-4056-919E-19745FD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05276-173A-43EC-A65F-1BB418B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A6A71-7DB8-4004-8B33-C345991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Structuring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DAB46-FDD8-4CE7-A06B-C895383E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Deal setup for approved agricultural projects.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CED51-79AF-4B8F-B7F9-AC3E4DD8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BB533-2575-4EAF-9D57-1FC7E35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0D920-3176-4FB5-A396-A74EF95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2325E-C6AB-4168-AA20-1EDAC81B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Reporting and portfolio management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EC2F7-BF68-4EFE-9199-97EF93EE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48109-6079-4F3B-826C-2FB596DE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B72EE-2220-41C6-8BAB-FD4A0EF1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Partner programs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959BA-CACE-49F1-95A6-9FD510F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Regional operators, funds, and ecosystem sponsors.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80829-7F67-4D14-8453-03CE2FF5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7464700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6875C-A156-40D2-8ED4-51B4AE1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980AE-CA9B-4451-B7BC-E52E9DC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AA328-5EE9-4F84-B2B4-D1731A9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19E6C-2956-4FEB-9568-CC17B61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8C76E-5C0F-4661-A8A0-57CCAF6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28837-CEB7-4F79-8BBB-93A79D9D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Alpha v1 Is Ready for External Demonstrations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27C67-233B-4A2B-830A-79DD10C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The current product demonstrates two pilots, role-specific portals, return tracking, admin oversight, and NEAR Testnet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0906C-DBED-4C1F-B273-701AE63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A526B-777D-4497-85D9-823088C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Investor Dashboard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F40F4-51C7-486F-883C-0CE0CDD3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C57DC-B81D-4082-84CF-2971745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Featured Fidlot and Hissar pilot deals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3B5EA-06A7-4264-B2A3-E7188120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A0F32-B6C3-49B9-A895-2F90D71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Farmer reporting and Admin oversight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C3D3-91E2-4841-9E2B-5E93197D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ADF30-67D2-466A-9224-ED28841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Testnet workflow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5147A-8738-4B58-9B97-54944E43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F3560-BCCA-46BE-B880-52D0276A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88C77-8437-45CD-B5E0-164F4DC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757D3-A002-4D80-B2E6-C5447CA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BEFD0-A166-4F22-AE9B-40D8AD04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73474-3E1C-4F06-836F-D4F44EED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CBBF6-01A7-471F-A107-55FC2388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5A7FD-2BDC-40DD-80C9-876D9365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4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CC31B-AE17-48FD-887B-13726367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5095875"/>
            <a:ext cx="151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97409-3EAB-493E-A186-270D098B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50958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7B97D-3EA5-430B-90AA-9856681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210175"/>
            <a:ext cx="118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D2932-3B43-4FBA-BFE2-359E9865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5534025"/>
            <a:ext cx="118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8AFBB-66D5-46CF-8E6D-547E9AB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010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6E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e76ed58fc4a6f"/>
          <a:stretch xmlns:a="http://schemas.openxmlformats.org/drawingml/2006/main"/>
        </p:blipFill>
        <p:spPr>
          <a:xfrm xmlns:a="http://schemas.openxmlformats.org/drawingml/2006/main">
            <a:off x="6572250" y="238660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92D31-3402-4FDD-A643-EC3F20F3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EE8F3-ACB7-40CC-87B2-94CB1D96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0175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and Hissar pilot deals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9D6F7-4A74-436E-9454-8F0E23F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3717872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8655A-570C-4FA8-9159-2DC9985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9F50C-01A3-488D-BFC4-ABAB5BB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71F11-58F8-4C92-A074-EEE2667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BE4AE-27E2-4D42-BE4A-2E72F06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2306B-337D-4C1A-9609-7442DD3B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1E0EF-7442-4A1C-99BD-1E2B07F2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From Alpha Demo to Pilot Investment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C2EEF-69C2-4196-9A58-F24FA59E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Next milestones focus on investor feedback, pilot validation, risk documentation, security review, and controlled expansion.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82DCB-2A5D-4EFD-B1AC-78DBF61D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BDB8E-FD33-4AE1-B747-F45D22FA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EAEA0-1312-430A-8BC1-831E8F4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Demo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83453-8D42-4E6A-8813-7FB3C253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7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A4274-9B6C-4630-A7E5-94BA656C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807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553A-27A7-4739-B13E-827D5CF1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07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Investor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D5C95-4140-4FBF-ADDF-5A343BA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81C0-840F-4519-B645-FF41E518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64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959BA-3DFF-4492-88CE-6177283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64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Pilot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3A5AB-5408-4CED-B8C4-4A9AFC5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1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5BB27-29CB-4A4F-85FB-C2E5D8E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21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55973-5825-4D28-8E84-9697ED0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21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Risk/legal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098ED-9CCF-49D7-B11F-CF461FA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9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F7D84-A126-479B-9B1C-516A41B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779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69934-C83A-4C68-BBF9-983DF1E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79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7F3BA-9848-4454-AEE1-0317F38C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86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6AC62-99B9-44F4-AAFB-988E8C9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436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ED3FF-3C8A-47D0-B7DF-0B1364E0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Mainnet planning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78F4C-B80D-42EB-9215-12BA601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743" y="2647950"/>
            <a:ext cx="1480457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29427-1587-4706-B2A8-78F157C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2781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1CB93-697C-4B55-A918-6D5E903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993" y="3048000"/>
            <a:ext cx="12899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Controlled expansion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937B1-75BA-4D05-B2F7-A1D60C0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91F51-5683-447B-812E-B8CFAA1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C38C2-981D-44D1-9F5D-05D21B6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530E3-A4F8-4ADF-926C-4AD407FB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18C4E-3D02-4FE0-90F8-5C0D8871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D337B5-2C1D-4831-8A3F-2D72EDE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37975-D210-4490-8CBC-15A8FD8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B8A922-ADC8-4039-B0EE-D3103EC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33567-5A79-476D-9819-F1111381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18B57-A301-44EE-9A82-1401A022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EE7EC6-9EDC-4376-A09E-BF7EEFD4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643B02-ED9C-4265-BCB4-9F14347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DBEABF-67DC-43E4-939D-A6441D75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AA5A89-A2A3-4D54-A44A-AF9C03A5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42377-E42B-459E-B12F-3D053030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5F9C3B-CB10-415F-BB74-58EE87F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ROI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1895C4-A560-4D47-90D1-A4B7E19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207264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0AA66B-D14C-403B-AD5D-318F078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FD318-5681-484E-9839-896DCE92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8958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CC5D67-C796-4F48-ADEC-F7BBD1ED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2768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Hissar Projected ROI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FD61BF-2948-47E1-8B23-B840063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069249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DEDD6-BE56-4BFE-8FFE-E3C6300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DE196-2B10-4256-8F71-42D125A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5A56F-2260-412F-B582-27E36E2C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2269-4C10-4A9F-ADC5-58CDD73F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017CB-33F2-4403-AB9D-D8B0E2F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E92F3-6BD6-4B0B-9591-62903A38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Strategic Capital and Pilot Validation 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C8767-1CCD-4423-A894-48BD139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AgriPartners is seeking strategic support to move from Alpha v1 demonstration into a credible pilot investment package.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739DF-CE83-4C06-A583-24D234C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D33FC-FF95-4E1A-B575-AB33DA9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7070F-B557-4CEC-ABD1-B782F952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Strategic investors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30F05-0F41-4D78-BD0E-96245B75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Agriculture, emerging-market, and infrastructure-stage expertise.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82264-8D67-4883-84E3-CE4BBCAE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DCAB9-6A1E-4543-928E-C40682D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21B56-069D-4268-A366-2FEA8FF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Pilot capital partners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F1E88-B4DE-418E-826E-9AC9F83B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Structured validation for Fidlot and Hissar economics.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5AF2D-3E9D-4412-AE69-77B78D9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27F06-1FA6-471D-892A-4066DB5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CAF50-0854-4C30-A4BE-E7CFBED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Accelerators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81D8A-FD72-430F-B3CF-F91254F4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Fundraising discipline, market access, and investor packaging.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5326C-E016-4CFD-8381-6D9A8FF0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593C4-F875-44CC-B1D6-E60F8F5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20E55-F379-4EAD-96BA-69D3E0C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Ecosystem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941DC-C648-4876-B931-9B9ED92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NEAR review, introductions, regional partners, legal guidance.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5BD94-D396-4E44-93DB-74FC513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181441626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B1E70-F183-4F72-9CEF-B95D383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C7601-1F97-4112-8D14-C0C0F6B5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D90E8-C310-48D7-B1A2-C0B6AD7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65084-5045-405F-AB8B-8C1435C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2556-B892-4D36-BC3B-40D1ADB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1E0DD-3320-4E37-85F9-2703DF33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312A"/>
                </a:solidFill>
                <a:latin typeface="Aptos Display"/>
                <a:ea typeface="Aptos Display"/>
                <a:cs typeface="Aptos Display"/>
              </a:rPr>
              <a:t>Team &amp; 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6FA99-9485-4D0B-B401-30FA68D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Founder-led execution with a practical first product, concrete pilots, and investor-readable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FE353-191E-45DE-9E66-8A90D61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A0A88-2F9C-4C09-8EFB-9570DBE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916C1-B87F-482F-AF26-75E2B4F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2ABB2-6460-4169-A67C-C3CD49B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24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Farhod Muhamadiev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02681-461E-4EAE-BA1B-23ACA7E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62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Founder, AgriPartners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1F47B-6D91-435F-9E87-0DCA419D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Founder-led execution with a practical first product, concrete pilots, and investor-readable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69083-6542-4866-8ECB-35BE7D8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607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635C1-C5D9-4642-A4EF-4702B19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12A"/>
                </a:solidFill>
                <a:latin typeface="Aptos"/>
                <a:ea typeface="Aptos"/>
                <a:cs typeface="Aptos"/>
              </a:rPr>
              <a:t>Professional next 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7BF9F-AF81-43D3-96A7-DB8D9F6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19450"/>
            <a:ext cx="523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Schedule a walkthrough of the investor, farmer, admin, and NEAR Testnet flows; then review pilot economics, risk assumptions, and partner fit.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06FAA-52AE-4D9C-8D51-EA76E093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AEF35-3E06-46AF-8F79-09D6281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Investor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272EB-7339-41C4-944B-BE74F077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C0B31-2CBD-4E72-ABE6-D002F3B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Farmer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7C45C-5D6D-4592-BC61-72C79AF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EE8B9-46FE-4B7E-BD06-C685116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4EBF5-D8E7-4BC6-A641-4B83C34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5B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E9100-13A3-4608-9FDA-EF7FC65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315B8C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315B8C"/>
                </a:solidFill>
                <a:latin typeface="Aptos"/>
                <a:ea typeface="Aptos"/>
                <a:cs typeface="Aptos"/>
              </a:rPr>
              <a:t>NEAR Testnet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3329E-4D95-461E-8A45-BCA6995D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CEF24-0846-4BE3-A467-E19ED6D3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ECE61-FD23-4574-9C90-2627AF1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$100,000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E98C9-34F7-42CA-AED0-B3CC41E0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Total Pilot Funding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C5911-75B6-4B3B-9300-1EDE414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CB54A-A5A6-453A-8674-C994450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75E51-C37E-4921-96A4-ED961ED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$163,650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ACF70F-A6FE-4A25-BD19-E5D8368B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Expected Returns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67A1A-CC24-4179-A060-FF91028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75685F-D397-4E9D-B5E8-3CD263A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5D317-E403-49AE-A6D7-F24C9F50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F7A4D"/>
                </a:solidFill>
                <a:latin typeface="Aptos Display"/>
                <a:ea typeface="Aptos Display"/>
                <a:cs typeface="Aptos Display"/>
              </a:rPr>
              <a:t>$82,000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58399-3F85-421F-BA10-29F13910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90D3D3-85C2-4C68-AFC6-6C4A459E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021F2-1631-40B1-97CD-B80197C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FD85F-CCFD-420C-9236-FADEC40E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88A24"/>
                </a:solidFill>
                <a:latin typeface="Aptos Display"/>
                <a:ea typeface="Aptos Display"/>
                <a:cs typeface="Aptos Display"/>
              </a:rPr>
              <a:t>64%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D784D0-5DAD-4562-B8D5-A68119D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Fidlot ROI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A3267D-5971-448F-A40D-BE13E9A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38750"/>
            <a:ext cx="207264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7C9AE9-CB7F-45D9-8622-BD19D197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238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1A055D-48EF-4FB5-A65E-C3E127B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353050"/>
            <a:ext cx="174879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5B8C"/>
                </a:solidFill>
                <a:latin typeface="Aptos Display"/>
                <a:ea typeface="Aptos Display"/>
                <a:cs typeface="Aptos Display"/>
              </a:rPr>
              <a:t>63.3%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43DBA-54EC-4454-A537-AA5A5B6E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5734050"/>
            <a:ext cx="17487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1423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1423D"/>
                </a:solidFill>
                <a:latin typeface="Aptos"/>
                <a:ea typeface="Aptos"/>
                <a:cs typeface="Aptos"/>
              </a:rPr>
              <a:t>Hissar Projected ROI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78D289-CC3D-4DA8-A43C-5F17F47E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56F"/>
                </a:solidFill>
                <a:latin typeface="Aptos"/>
                <a:ea typeface="Aptos"/>
                <a:cs typeface="Aptos"/>
              </a:rPr>
              <a:t>AgriPartners Alpha v1</a:t>
            </a:r>
          </a:p>
        </p:txBody>
      </p:sp>
    </p:spTree>
    <p:extLst>
      <p:ext uri="{BB962C8B-B14F-4D97-AF65-F5344CB8AC3E}">
        <p14:creationId xmlns:p14="http://schemas.microsoft.com/office/powerpoint/2010/main" val="2044168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2026-06-11T12:51:33.8130000Z</dcterms:created>
  <dcterms:modified xsi:type="dcterms:W3CDTF">2026-06-11T12:51:33.8140000Z</dcterms:modified>
</coreProperties>
</file>